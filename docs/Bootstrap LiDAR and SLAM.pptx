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13.png" ContentType="image/png"/>
  <Override PartName="/ppt/media/image50.png" ContentType="image/png"/>
  <Override PartName="/ppt/media/image36.png" ContentType="image/png"/>
  <Override PartName="/ppt/media/image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6425115-52EB-4057-830F-AAE1849746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Goal of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day: LiDAR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visible in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RViz,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understandi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ng of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node/topic/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plumbing,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leads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SLAM.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itself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open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work, not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validated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solution.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4ABCC8-812F-436A-AA12-34D92097E8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Three outcomes. The first one is the win condition of the day; SLAM is a bonus track.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C5E173-B3A5-4C2B-BE7C-0FD61B746E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Battery: 4S LiPo, full at 16.8 V, never below 14.0 V (3.5 V per cell). Camera and GPS are on the car but out of scope today.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FF10CC-BB42-4217-86F0-E7DDE6A837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stand is non-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negotiable for first tests.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F710: switch on X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(XInput) and MODE LED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off, otherwise the stick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mapping is wrong.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8BB8AF-51C0-4ECA-98D0-FEC3E04383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website is being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updated. Until then, this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recap lists what differs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C8FAAE-029B-4E3E-B362-B85BB6FCB9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(Field-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Oriented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Control) vs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BLDC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(trapezoid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commutati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on). ERPM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 electrical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RPM, i.e.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mechanica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RPM ×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pole pairs.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500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ms timeout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the last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line of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defence if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everything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else fails.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0836E7-62D4-4635-B458-FD71AEDFBC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Common mistake: writing only the motor config and forgetting the app config (or vice versa).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37BF41-06DD-43DE-B98E-20F077FC8E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Stable names come from udev rules. The clock point matters for SLAM later: mismatched clocks make TF reject data.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2C2957-D5E5-40D2-A2B4-B50F3C8DA5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Goal of this part: everyone drives the car on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stand with the gamepad and understands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safety chain.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CF1E52-2476-4EC9-A242-768A6E14E6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F1TENTH compatibility is the main lever: their simulator, tutorials and SLAM configs can be reused without adaptation.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8E0C65-2004-4F60-9EEF-B183976A1B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F1TENTH compatibility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main lever: their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simulator, tutorials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configs can be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reused without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adaptation.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6BFE57-B76E-4555-AADC-E869220EB1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Message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type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sensor_m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sgs/Laser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Scan,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about 10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Hz.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Discovery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DDS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multicast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local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network,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scoped by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ROS_DO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MAIN_ID.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6C2DE5-EB12-4AC5-955C-25BD723A3E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Profiles let you start only the groups you need. Add --profile lidar on top of control for today.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21B5E5-76CF-4C71-808F-6B2C934F95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Green: driving,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gamepad,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safety,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odometry, all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tested. Blue: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today (LiDAR,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TF, RViz, then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leads).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can run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the PC or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the Jetson,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see Part 4.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Grey: camera,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GPS and your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own driving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node.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Everything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crossing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between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two panels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goes over Wi-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Fi. Full list of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nodes, topics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TFs in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ARCHITECTU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RE.md.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F68F65-DBB6-4A3D-883A-51FBEAE9F3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Order matters: USB devices first, then battery, so the udev names are ready when the containers start.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22FF74-FB1F-4534-8D02-E68541E1F3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First sanity check: /sensors/core gives battery voltage and VESC fault code. fault_code must be 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F18546-F2D1-4503-84D2-0E9D1DB62E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mux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only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forwards /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drive while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RB is held.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Autonomo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 code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must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never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bypass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ackerman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n_mux.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8C69A7-32C7-4861-A272-B5B12FE1CA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Everyone does this test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before writing any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autonomous node. Car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the stand.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A6569A-917D-47F0-BA4C-D6412E0336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Checkpoint: every group should be driving on the stand before moving 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709D22-7F27-4CEC-9506-954A38B560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/dev/lidar is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udev symlink,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stable whatever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USB port.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After a replug,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container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keeps the old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device handle,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hence --force-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recreate.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E45C02-6E06-4806-955A-0437E775D1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URDF file comes back two slides later: its positions are placeholders.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788D86-AC8A-4068-BC44-5D143F6B5C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Angle of ranges[i] = angle_min + i × angle_increment. inf and 0.0 must be filtered before any processing.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7ABAF0-CC49-4B2C-B379-E97A0ACC44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/dev/lidar is a udev symlink, stable whatever the USB port. After a replug, the container keeps the old device handle, hence --force-recreate.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307756-F008-478E-B7EA-8C7A71CC07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REP-103 = ROS Enhancement Proposal 103, the standard units and axis conventions. map→odom (dashed) only appears once SLAM runs; odom→base_link comes from wheel odometry; the sensor transforms are static, from the URDF.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0CBC71-C6C7-4BC5-8802-4C6DAA1F0F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Measure from base_link: centre of the rear axle, on the ground. Rebuild the control image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after editing the xacro, or the old values stay.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C847FD-47DD-46E4-8A53-A05FC8FD36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points appear mirrored or rotated, the laser frame orientation in the URDF is wrong. Check left/right with a hand before trusting the scan.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3DB56F-25ED-4698-B9E6-7F1B77BB14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= Simultaneous Localization And Mapping. Be explicit with students: nothing here is validated on the car yet.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CE8168-3F0E-4A4E-8354-65E98CCFCF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Ask groups to report numbers: CPU load and map update rate on the Jetson vs dropped scans over Wi-Fi.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4B1EB8-66EE-40D3-A3CC-71DB672DE1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Jetson this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only works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slam_tool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box was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added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 image.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tf2_echo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odom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laser fails,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SLAM will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 start: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fix TF first.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A26CDF-2AEA-428D-BC01-88F8E81683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Revisiting places triggers loop closure, which corrects accumulated drift. Recording a bag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once lets a whole group tune parameters offline.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DF13EC-A45D-4CEC-A6F9-E8DB4450E0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Leave this slide up during the practical part.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13017C-E2DD-49C0-9467-1540A0304F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3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8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6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0.png"/><Relationship Id="rId3" Type="http://schemas.openxmlformats.org/officeDocument/2006/relationships/image" Target="../media/image50.png"/><Relationship Id="rId4" Type="http://schemas.openxmlformats.org/officeDocument/2006/relationships/image" Target="../media/image5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9469440" y="457200"/>
            <a:ext cx="19090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&lt;SINCE 1999/&gt;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12880" y="23151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Bootstrap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12880" y="2828160"/>
            <a:ext cx="85017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LiDAR and SLAM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12880" y="3857040"/>
            <a:ext cx="78480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See your car's LiDAR in RViz, understand how the pieces talk to each other, and leave with leads to build a map.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812880" y="5626080"/>
            <a:ext cx="5885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{ &lt;TECH TOGETHER TOMORROW&gt; 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introduction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Goal of the day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4326840" y="19854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584240" y="2293560"/>
            <a:ext cx="2944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13afb"/>
                </a:solidFill>
                <a:latin typeface="Space Mono"/>
                <a:ea typeface="Space Mono"/>
              </a:rPr>
              <a:t>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4584240" y="282708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See the LiDAR in RViz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4584240" y="3259080"/>
            <a:ext cx="2944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The scan of your own car, live on your PC.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685800" y="19854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943200" y="2293560"/>
            <a:ext cx="2944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13afb"/>
                </a:solidFill>
                <a:latin typeface="Space Mono"/>
                <a:ea typeface="Space Mono"/>
              </a:rPr>
              <a:t>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943200" y="2827080"/>
            <a:ext cx="29440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Understand ROS2 plumbing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943200" y="3563640"/>
            <a:ext cx="2944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How nodes, topics and TF frames talk to each other.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7998840" y="19620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8256240" y="2270160"/>
            <a:ext cx="2944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13afb"/>
                </a:solidFill>
                <a:latin typeface="Space Mono"/>
                <a:ea typeface="Space Mono"/>
              </a:rPr>
              <a:t>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8256240" y="280368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Leave with SLAM leads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8256240" y="3235680"/>
            <a:ext cx="2944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A starting point to build a map, to explore yourselves.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1071000" y="4514760"/>
            <a:ext cx="2514240" cy="1320480"/>
          </a:xfrm>
          <a:prstGeom prst="rect">
            <a:avLst/>
          </a:prstGeom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3"/>
          <a:srcRect l="0" t="31656" r="0" b="0"/>
          <a:stretch/>
        </p:blipFill>
        <p:spPr>
          <a:xfrm>
            <a:off x="4456440" y="4150800"/>
            <a:ext cx="3123000" cy="1599840"/>
          </a:xfrm>
          <a:prstGeom prst="rect">
            <a:avLst/>
          </a:prstGeom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4"/>
          <a:stretch/>
        </p:blipFill>
        <p:spPr>
          <a:xfrm>
            <a:off x="8206200" y="4114800"/>
            <a:ext cx="2994840" cy="169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introduction · hardware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On the car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819000" y="1809720"/>
            <a:ext cx="3423960" cy="123048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000440" y="195300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chassis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000440" y="220428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Traxxas Fiesta ST Rally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000440" y="2486160"/>
            <a:ext cx="3153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BL-2s: 3300 kV motor, 4 poles, sensorless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4383720" y="1809720"/>
            <a:ext cx="3423960" cy="123048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4564800" y="195300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motor controller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4564800" y="220428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VESC (Hw 60, Fw 7.00)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4564800" y="2486160"/>
            <a:ext cx="31536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Drives the motor and the steering servo. </a:t>
            </a:r>
            <a:r>
              <a:rPr b="1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Already configured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7948080" y="1809720"/>
            <a:ext cx="3423960" cy="123048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8129160" y="195300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computer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8129160" y="220428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Jetson Nano 4 GB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8129160" y="2486160"/>
            <a:ext cx="31536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JetPack 4.6.1, 64 GB microSD, fan. Barrel jack, J48 jumper in place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819000" y="3180600"/>
            <a:ext cx="3423960" cy="1240200"/>
          </a:xfrm>
          <a:prstGeom prst="roundRect">
            <a:avLst>
              <a:gd name="adj" fmla="val 1177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1000440" y="332352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lidar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1000440" y="357516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LDRobot LD19 / STL-19P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1000440" y="3857040"/>
            <a:ext cx="3153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USB, shows up as /dev/lidar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4386960" y="3183840"/>
            <a:ext cx="3417840" cy="1233720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4569840" y="3328560"/>
            <a:ext cx="31435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battery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4569840" y="3579840"/>
            <a:ext cx="31435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LiPo 4S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4569840" y="3861720"/>
            <a:ext cx="31435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2200 or 3700 mAh</a:t>
            </a:r>
            <a:br>
              <a:rPr sz="1200"/>
            </a:b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Full at 16.8 V, </a:t>
            </a:r>
            <a:r>
              <a:rPr b="1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stop below 14.0 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7948080" y="3180600"/>
            <a:ext cx="3423960" cy="1240200"/>
          </a:xfrm>
          <a:prstGeom prst="roundRect">
            <a:avLst>
              <a:gd name="adj" fmla="val 1177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8129160" y="332352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8129160" y="357516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Anti-spark, DC converter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8129160" y="3857040"/>
            <a:ext cx="31536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XT60, 12 AWG. Battery → VESC, and → Jetson via 5 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6"/>
          <p:cNvSpPr/>
          <p:nvPr/>
        </p:nvSpPr>
        <p:spPr>
          <a:xfrm>
            <a:off x="819000" y="4560840"/>
            <a:ext cx="3423960" cy="1024560"/>
          </a:xfrm>
          <a:prstGeom prst="roundRect">
            <a:avLst>
              <a:gd name="adj" fmla="val 14244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1000440" y="470412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wi-fi adapter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1000440" y="495540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USB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1000440" y="5237640"/>
            <a:ext cx="3153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Connects the Jetson to your PC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30"/>
          <p:cNvSpPr/>
          <p:nvPr/>
        </p:nvSpPr>
        <p:spPr>
          <a:xfrm>
            <a:off x="4383720" y="4560840"/>
            <a:ext cx="3423960" cy="1024560"/>
          </a:xfrm>
          <a:prstGeom prst="roundRect">
            <a:avLst>
              <a:gd name="adj" fmla="val 14244"/>
            </a:avLst>
          </a:prstGeom>
          <a:solidFill>
            <a:srgbClr val="eceef3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4564800" y="470412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Space Mono"/>
                <a:ea typeface="Space Mono"/>
              </a:rPr>
              <a:t>camera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4564800" y="495540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5260"/>
                </a:solidFill>
                <a:latin typeface="Inter"/>
                <a:ea typeface="Inter"/>
              </a:rPr>
              <a:t>Luxonis OAK-D Lite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4564800" y="5237640"/>
            <a:ext cx="3153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Not used today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4"/>
          <p:cNvSpPr/>
          <p:nvPr/>
        </p:nvSpPr>
        <p:spPr>
          <a:xfrm>
            <a:off x="7948080" y="4560840"/>
            <a:ext cx="3423960" cy="1024560"/>
          </a:xfrm>
          <a:prstGeom prst="roundRect">
            <a:avLst>
              <a:gd name="adj" fmla="val 14244"/>
            </a:avLst>
          </a:prstGeom>
          <a:solidFill>
            <a:srgbClr val="eceef3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5"/>
          <p:cNvSpPr/>
          <p:nvPr/>
        </p:nvSpPr>
        <p:spPr>
          <a:xfrm>
            <a:off x="8129160" y="4704120"/>
            <a:ext cx="3153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Space Mono"/>
                <a:ea typeface="Space Mono"/>
              </a:rPr>
              <a:t>gps rtk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6"/>
          <p:cNvSpPr/>
          <p:nvPr/>
        </p:nvSpPr>
        <p:spPr>
          <a:xfrm>
            <a:off x="8129160" y="4955400"/>
            <a:ext cx="31536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5260"/>
                </a:solidFill>
                <a:latin typeface="Inter"/>
                <a:ea typeface="Inter"/>
              </a:rPr>
              <a:t>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7"/>
          <p:cNvSpPr/>
          <p:nvPr/>
        </p:nvSpPr>
        <p:spPr>
          <a:xfrm>
            <a:off x="8129160" y="5237640"/>
            <a:ext cx="3153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Not used today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8"/>
          <p:cNvSpPr/>
          <p:nvPr/>
        </p:nvSpPr>
        <p:spPr>
          <a:xfrm>
            <a:off x="812880" y="62380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Full parts list: tek5-robocar.github.io/robocar_documentation/bom (purchase links are outdated)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rcRect l="0" t="15600" r="0" b="15656"/>
          <a:stretch/>
        </p:blipFill>
        <p:spPr>
          <a:xfrm>
            <a:off x="3357000" y="1900800"/>
            <a:ext cx="799200" cy="54936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3"/>
          <a:stretch/>
        </p:blipFill>
        <p:spPr>
          <a:xfrm>
            <a:off x="6858000" y="1898640"/>
            <a:ext cx="861120" cy="57420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4"/>
          <a:srcRect l="0" t="12264" r="0" b="11064"/>
          <a:stretch/>
        </p:blipFill>
        <p:spPr>
          <a:xfrm>
            <a:off x="10445400" y="1843920"/>
            <a:ext cx="837360" cy="64188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5"/>
          <a:srcRect l="19624" t="15594" r="20363" b="14395"/>
          <a:stretch/>
        </p:blipFill>
        <p:spPr>
          <a:xfrm>
            <a:off x="3429000" y="3262680"/>
            <a:ext cx="717480" cy="55800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6"/>
          <a:srcRect l="7776" t="12264" r="5551" b="14400"/>
          <a:stretch/>
        </p:blipFill>
        <p:spPr>
          <a:xfrm>
            <a:off x="6858000" y="3200400"/>
            <a:ext cx="810360" cy="68544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7"/>
          <a:srcRect l="8346" t="24115" r="1678" b="23260"/>
          <a:stretch/>
        </p:blipFill>
        <p:spPr>
          <a:xfrm>
            <a:off x="9232560" y="3213000"/>
            <a:ext cx="825840" cy="36216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8"/>
          <a:srcRect l="0" t="0" r="0" b="11947"/>
          <a:stretch/>
        </p:blipFill>
        <p:spPr>
          <a:xfrm>
            <a:off x="6858000" y="4704120"/>
            <a:ext cx="700560" cy="36000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9"/>
          <a:stretch/>
        </p:blipFill>
        <p:spPr>
          <a:xfrm>
            <a:off x="10287000" y="3216600"/>
            <a:ext cx="880920" cy="3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introduction · hardware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Side material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812880" y="1803240"/>
            <a:ext cx="4849560" cy="4241160"/>
          </a:xfrm>
          <a:prstGeom prst="roundRect">
            <a:avLst>
              <a:gd name="adj" fmla="val 4192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0" descr="Warning"/>
          <p:cNvPicPr/>
          <p:nvPr/>
        </p:nvPicPr>
        <p:blipFill>
          <a:blip r:embed="rId1"/>
          <a:stretch/>
        </p:blipFill>
        <p:spPr>
          <a:xfrm>
            <a:off x="1117440" y="285228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91" name="Text 3"/>
          <p:cNvSpPr/>
          <p:nvPr/>
        </p:nvSpPr>
        <p:spPr>
          <a:xfrm>
            <a:off x="1117440" y="3462120"/>
            <a:ext cx="4367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&lt; mandatory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117440" y="3827880"/>
            <a:ext cx="436716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6f7fb"/>
                </a:solidFill>
                <a:latin typeface="Inter"/>
                <a:ea typeface="Inter"/>
              </a:rPr>
              <a:t>Car stand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1117440" y="4427280"/>
            <a:ext cx="43671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First tests are always done </a:t>
            </a:r>
            <a:r>
              <a:rPr b="1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wheels in the air</a:t>
            </a:r>
            <a:r>
              <a:rPr b="0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5872680" y="1809720"/>
            <a:ext cx="5499360" cy="1315800"/>
          </a:xfrm>
          <a:prstGeom prst="roundRect">
            <a:avLst>
              <a:gd name="adj" fmla="val 1109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6104520" y="2214000"/>
            <a:ext cx="51865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Battery voltage checker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6104520" y="2508840"/>
            <a:ext cx="51865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One or a few per campus, shared between cars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5872680" y="3265920"/>
            <a:ext cx="5499360" cy="1315800"/>
          </a:xfrm>
          <a:prstGeom prst="roundRect">
            <a:avLst>
              <a:gd name="adj" fmla="val 1109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6104520" y="3670200"/>
            <a:ext cx="51865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Gamepad Logitech F710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6104520" y="3965040"/>
            <a:ext cx="51865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Switch on the back on </a:t>
            </a:r>
            <a:r>
              <a:rPr b="1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X</a:t>
            </a: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, </a:t>
            </a:r>
            <a:r>
              <a:rPr b="1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MODE LED off</a:t>
            </a: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. Short range 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5872680" y="4722120"/>
            <a:ext cx="5499360" cy="1315800"/>
          </a:xfrm>
          <a:prstGeom prst="roundRect">
            <a:avLst>
              <a:gd name="adj" fmla="val 1109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6104520" y="5126400"/>
            <a:ext cx="51865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USB SD card reader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6104520" y="5421240"/>
            <a:ext cx="51865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To flash or back up the Jetson's card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Image 1" descr="Epitech"/>
          <p:cNvPicPr/>
          <p:nvPr/>
        </p:nvPicPr>
        <p:blipFill>
          <a:blip r:embed="rId2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9870840" y="1863360"/>
            <a:ext cx="1226160" cy="122616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4"/>
          <a:stretch/>
        </p:blipFill>
        <p:spPr>
          <a:xfrm>
            <a:off x="10257840" y="3321000"/>
            <a:ext cx="1051200" cy="774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5"/>
          <a:srcRect l="11112" t="12264" r="8886" b="14395"/>
          <a:stretch/>
        </p:blipFill>
        <p:spPr>
          <a:xfrm>
            <a:off x="9902160" y="4781160"/>
            <a:ext cx="1267560" cy="116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108" name="Shape 0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812880" y="213228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Part 1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812880" y="2620080"/>
            <a:ext cx="108828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Recap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812880" y="3623400"/>
            <a:ext cx="85017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The original documentation (assembly, parts list, 3D models, VESC, GPS) still applies, with some required changes.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812880" y="451224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tek5-robocar.github.io/robocar_documentation · update coming soon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part-1 · recap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VESC Tool: what changed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812880" y="16257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Already reconfigured on your car: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do not redo the original procedure (?).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Table 0"/>
          <p:cNvGraphicFramePr/>
          <p:nvPr/>
        </p:nvGraphicFramePr>
        <p:xfrm>
          <a:off x="822600" y="2122920"/>
          <a:ext cx="10555560" cy="2947680"/>
        </p:xfrm>
        <a:graphic>
          <a:graphicData uri="http://schemas.openxmlformats.org/drawingml/2006/table">
            <a:tbl>
              <a:tblPr/>
              <a:tblGrid>
                <a:gridCol w="2533320"/>
                <a:gridCol w="3377880"/>
                <a:gridCol w="4644720"/>
              </a:tblGrid>
              <a:tr h="32976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Original documentation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Now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0532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Why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0532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</a:tr>
              <a:tr h="54288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Motor type Medium Outrunner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Small Inrunner, 4 poles, no temp. sensor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Original values were for a skateboard motor: too much current at detection can burn it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76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Keep FOC instead of BLDC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Stay in FOC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As we are changing other params, this needs to be retested.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FOC is still recommended: BLDC is simpler, but it jerks at low speed. FOC is smooth and linear, which keeps low-speed odometry stable and reduces vibration seen by the IMU.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  <a:tr h="54288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No limits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Motor 30 A, battery 20 A, max ±30000 ERPM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The BL-2s is designed for 2S, and here it runs on 4S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76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Li-ion cutoff voltages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Cutoff 14.0 V / 13.2 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Protects the LiPo (3.5 V / 3.3 V per cell)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  <a:tr h="54288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App settings not specified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No App, servo output on, timeout 500 ms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No command for 500 ms → the motor stops. The last safety net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760"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Control with pyvesc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ROS 2, /drive topic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3280" rIns="53280" anchor="t">
                      <a:noAutofit/>
                    </a:bodyPr>
                    <a:p>
                      <a:pPr defTabSz="914400">
                        <a:lnSpc>
                          <a:spcPts val="1681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pyvesc and ROS would fight over the same USB port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3280" marR="5328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3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part-1 · recap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VESC: three things to remember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819000" y="1809720"/>
            <a:ext cx="3373200" cy="402516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0" descr="Settings"/>
          <p:cNvPicPr/>
          <p:nvPr/>
        </p:nvPicPr>
        <p:blipFill>
          <a:blip r:embed="rId1"/>
          <a:stretch/>
        </p:blipFill>
        <p:spPr>
          <a:xfrm>
            <a:off x="1076400" y="211788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28" name="Text 3"/>
          <p:cNvSpPr/>
          <p:nvPr/>
        </p:nvSpPr>
        <p:spPr>
          <a:xfrm>
            <a:off x="1076400" y="260064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Two write buttons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1076400" y="3032280"/>
            <a:ext cx="2944080" cy="11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In VESC Tool,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Write Motor Configuration (M)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and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Write App Configuration (A)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are separate.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4408920" y="1809720"/>
            <a:ext cx="3373200" cy="402516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Image 1" descr="Database"/>
          <p:cNvPicPr/>
          <p:nvPr/>
        </p:nvPicPr>
        <p:blipFill>
          <a:blip r:embed="rId2"/>
          <a:stretch/>
        </p:blipFill>
        <p:spPr>
          <a:xfrm>
            <a:off x="4666320" y="211788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32" name="Text 6"/>
          <p:cNvSpPr/>
          <p:nvPr/>
        </p:nvSpPr>
        <p:spPr>
          <a:xfrm>
            <a:off x="4666320" y="260064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Stored in the VESC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4666320" y="3032280"/>
            <a:ext cx="294408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The configuration lives in the controller. Nothing to reapply at startup.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7998840" y="1809720"/>
            <a:ext cx="3373200" cy="402516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2" descr="Lock"/>
          <p:cNvPicPr/>
          <p:nvPr/>
        </p:nvPicPr>
        <p:blipFill>
          <a:blip r:embed="rId3"/>
          <a:stretch/>
        </p:blipFill>
        <p:spPr>
          <a:xfrm>
            <a:off x="8256240" y="211788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36" name="Text 9"/>
          <p:cNvSpPr/>
          <p:nvPr/>
        </p:nvSpPr>
        <p:spPr>
          <a:xfrm>
            <a:off x="8256240" y="260064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Old service stays off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8256240" y="3032280"/>
            <a:ext cx="2944080" cy="11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vesc-config.service rewrote the config at each boot. It is disabled and must stay disabled.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812880" y="62380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Space Mono"/>
                <a:ea typeface="Space Mono"/>
              </a:rPr>
              <a:t>Full procedure and values: host/vesc/README.md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3" descr="Epitech"/>
          <p:cNvPicPr/>
          <p:nvPr/>
        </p:nvPicPr>
        <p:blipFill>
          <a:blip r:embed="rId4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5"/>
          <a:srcRect l="72720" t="0" r="0" b="0"/>
          <a:stretch/>
        </p:blipFill>
        <p:spPr>
          <a:xfrm>
            <a:off x="2539800" y="4178520"/>
            <a:ext cx="928080" cy="158436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2840400" y="4608000"/>
            <a:ext cx="45684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part-1 · recap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Other changes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812520" y="1809720"/>
            <a:ext cx="10566360" cy="360"/>
          </a:xfrm>
          <a:prstGeom prst="line">
            <a:avLst/>
          </a:prstGeom>
          <a:ln w="1270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12880" y="195300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465a4"/>
                </a:solidFill>
                <a:latin typeface="Inter"/>
                <a:ea typeface="Inter"/>
              </a:rPr>
              <a:t>ROS 2 Jazzy in Docker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4368960" y="1958040"/>
            <a:ext cx="72201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465a4"/>
                </a:solidFill>
                <a:latin typeface="Inter"/>
                <a:ea typeface="Inter"/>
              </a:rPr>
              <a:t>The car software runs in containers on the Jetson (Part 2) → ubuntu 24.04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812520" y="237996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812880" y="324144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Inter"/>
                <a:ea typeface="Inter"/>
              </a:rPr>
              <a:t>F1TENTH conventions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368960" y="3246840"/>
            <a:ext cx="722016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666666"/>
                </a:solidFill>
                <a:latin typeface="Inter"/>
                <a:ea typeface="Inter"/>
              </a:rPr>
              <a:t>Topics, frames and gamepad: their tutorials, simulator and SLAM configs work as-is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812520" y="393804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812880" y="407952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13709"/>
                </a:solidFill>
                <a:latin typeface="Inter"/>
                <a:ea typeface="Inter"/>
              </a:rPr>
              <a:t>Safety chain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368960" y="4084560"/>
            <a:ext cx="72201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813709"/>
                </a:solidFill>
                <a:latin typeface="Inter"/>
                <a:ea typeface="Inter"/>
              </a:rPr>
              <a:t>Nothing moves unless button RB or LD is held (Part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812520" y="450684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812880" y="464832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Stable device names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4368960" y="4653360"/>
            <a:ext cx="72201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/dev/vesc and /dev/lidar, whatever the plug order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812520" y="507564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812520" y="564264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812880" y="521712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Time from your PC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4368960" y="5222160"/>
            <a:ext cx="72201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The Jetson has no clock battery: it takes its time from your PC (chrony)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sp>
        <p:nvSpPr>
          <p:cNvPr id="161" name="Shape 16"/>
          <p:cNvSpPr/>
          <p:nvPr/>
        </p:nvSpPr>
        <p:spPr>
          <a:xfrm>
            <a:off x="812880" y="3100320"/>
            <a:ext cx="10566360" cy="360"/>
          </a:xfrm>
          <a:prstGeom prst="line">
            <a:avLst/>
          </a:prstGeom>
          <a:ln w="6350">
            <a:solidFill>
              <a:srgbClr val="c9ce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6"/>
          <p:cNvSpPr/>
          <p:nvPr/>
        </p:nvSpPr>
        <p:spPr>
          <a:xfrm>
            <a:off x="811800" y="2566800"/>
            <a:ext cx="34002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465a4"/>
                </a:solidFill>
                <a:latin typeface="Inter"/>
                <a:ea typeface="Inter"/>
              </a:rPr>
              <a:t>ML in a separate Docker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4368960" y="2570040"/>
            <a:ext cx="72201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465a4"/>
                </a:solidFill>
                <a:latin typeface="Inter"/>
                <a:ea typeface="Inter"/>
              </a:rPr>
              <a:t>The ML methods requiring CUDA, Torch… → ubuntu 18.04 (as the jetson)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165" name="Shape 0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812880" y="234072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Part 2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812880" y="2828160"/>
            <a:ext cx="108828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ROS 2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812880" y="3831480"/>
            <a:ext cx="85017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Nodes, topics and Docker services, then driving the car with the gamepad.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43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ros2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44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Why ROS 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819000" y="19620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15" descr="Code"/>
          <p:cNvPicPr/>
          <p:nvPr/>
        </p:nvPicPr>
        <p:blipFill>
          <a:blip r:embed="rId1"/>
          <a:stretch/>
        </p:blipFill>
        <p:spPr>
          <a:xfrm>
            <a:off x="1076400" y="227016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79" name="Text 45"/>
          <p:cNvSpPr/>
          <p:nvPr/>
        </p:nvSpPr>
        <p:spPr>
          <a:xfrm>
            <a:off x="1076400" y="275292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Small programs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46"/>
          <p:cNvSpPr/>
          <p:nvPr/>
        </p:nvSpPr>
        <p:spPr>
          <a:xfrm>
            <a:off x="1076400" y="3256560"/>
            <a:ext cx="2944080" cy="14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5000" lnSpcReduction="20000"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a4556"/>
                </a:solidFill>
                <a:latin typeface="Inter"/>
                <a:ea typeface="Inter"/>
              </a:rPr>
              <a:t>Each node does one thing: read the LiDAR, drive the motor, read the gamepad.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a4556"/>
                </a:solidFill>
                <a:latin typeface="Inter"/>
                <a:ea typeface="Inter"/>
              </a:rPr>
              <a:t>Replace or add one without touching the others.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5"/>
          <p:cNvSpPr/>
          <p:nvPr/>
        </p:nvSpPr>
        <p:spPr>
          <a:xfrm>
            <a:off x="4408920" y="19620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Image 16" descr="Tool"/>
          <p:cNvPicPr/>
          <p:nvPr/>
        </p:nvPicPr>
        <p:blipFill>
          <a:blip r:embed="rId2"/>
          <a:stretch/>
        </p:blipFill>
        <p:spPr>
          <a:xfrm>
            <a:off x="4666320" y="227016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83" name="Text 47"/>
          <p:cNvSpPr/>
          <p:nvPr/>
        </p:nvSpPr>
        <p:spPr>
          <a:xfrm>
            <a:off x="4666320" y="275292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Ready-made tools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48"/>
          <p:cNvSpPr/>
          <p:nvPr/>
        </p:nvSpPr>
        <p:spPr>
          <a:xfrm>
            <a:off x="4666320" y="3184560"/>
            <a:ext cx="294408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RViz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to visualize,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slam_toolbox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for mapping,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Nav2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for navigation.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7998840" y="1962000"/>
            <a:ext cx="3373200" cy="4075920"/>
          </a:xfrm>
          <a:prstGeom prst="roundRect">
            <a:avLst>
              <a:gd name="adj" fmla="val 508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Image 17" descr="Users"/>
          <p:cNvPicPr/>
          <p:nvPr/>
        </p:nvPicPr>
        <p:blipFill>
          <a:blip r:embed="rId3"/>
          <a:stretch/>
        </p:blipFill>
        <p:spPr>
          <a:xfrm>
            <a:off x="8256240" y="2270160"/>
            <a:ext cx="354960" cy="354960"/>
          </a:xfrm>
          <a:prstGeom prst="rect">
            <a:avLst/>
          </a:prstGeom>
          <a:ln w="0">
            <a:noFill/>
          </a:ln>
        </p:spPr>
      </p:pic>
      <p:sp>
        <p:nvSpPr>
          <p:cNvPr id="187" name="Text 49"/>
          <p:cNvSpPr/>
          <p:nvPr/>
        </p:nvSpPr>
        <p:spPr>
          <a:xfrm>
            <a:off x="8256240" y="2752920"/>
            <a:ext cx="29440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F1TENTH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0"/>
          <p:cNvSpPr/>
          <p:nvPr/>
        </p:nvSpPr>
        <p:spPr>
          <a:xfrm>
            <a:off x="8256240" y="3184560"/>
            <a:ext cx="2944080" cy="11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Same code and conventions as F1TENTH, a large community of 1/10 racing cars.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18" descr="Epitech"/>
          <p:cNvPicPr/>
          <p:nvPr/>
        </p:nvPicPr>
        <p:blipFill>
          <a:blip r:embed="rId4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5"/>
          <a:srcRect l="0" t="9789" r="0" b="10207"/>
          <a:stretch/>
        </p:blipFill>
        <p:spPr>
          <a:xfrm>
            <a:off x="8871480" y="4203360"/>
            <a:ext cx="1584360" cy="169056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6"/>
          <a:stretch/>
        </p:blipFill>
        <p:spPr>
          <a:xfrm>
            <a:off x="4734720" y="4198680"/>
            <a:ext cx="2736720" cy="173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ros2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ROS 2 Briefly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3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2"/>
          <a:stretch/>
        </p:blipFill>
        <p:spPr>
          <a:xfrm>
            <a:off x="2309400" y="1828800"/>
            <a:ext cx="7867080" cy="479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ros2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Nodes and topics, with our code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1215000" y="2762280"/>
            <a:ext cx="2272680" cy="748440"/>
          </a:xfrm>
          <a:prstGeom prst="roundRect">
            <a:avLst>
              <a:gd name="adj" fmla="val 1949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1370880" y="2875320"/>
            <a:ext cx="20199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Space Mono"/>
                <a:ea typeface="Space Mono"/>
              </a:rPr>
              <a:t>ldlidar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1370880" y="3185280"/>
            <a:ext cx="20199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node · reads the LiDAR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4150800" y="2755800"/>
            <a:ext cx="3301200" cy="7614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5454720" y="2875320"/>
            <a:ext cx="6717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/scan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926600" y="3185280"/>
            <a:ext cx="17283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LaserScan · ~10 Hz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8"/>
          <p:cNvSpPr/>
          <p:nvPr/>
        </p:nvSpPr>
        <p:spPr>
          <a:xfrm>
            <a:off x="8820000" y="1873080"/>
            <a:ext cx="2552040" cy="621720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8975880" y="2042280"/>
            <a:ext cx="23076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RViz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8820000" y="2825640"/>
            <a:ext cx="2552040" cy="621720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8975880" y="2994480"/>
            <a:ext cx="23076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slam_toolbox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2"/>
          <p:cNvSpPr/>
          <p:nvPr/>
        </p:nvSpPr>
        <p:spPr>
          <a:xfrm>
            <a:off x="8820000" y="3778200"/>
            <a:ext cx="2552040" cy="621720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0e1a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8975880" y="3947040"/>
            <a:ext cx="23076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your own code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Image 0" descr="connector"/>
          <p:cNvPicPr/>
          <p:nvPr/>
        </p:nvPicPr>
        <p:blipFill>
          <a:blip r:embed="rId1"/>
          <a:stretch/>
        </p:blipFill>
        <p:spPr>
          <a:xfrm>
            <a:off x="3465000" y="3086280"/>
            <a:ext cx="735840" cy="100800"/>
          </a:xfrm>
          <a:prstGeom prst="rect">
            <a:avLst/>
          </a:prstGeom>
          <a:ln w="0">
            <a:noFill/>
          </a:ln>
        </p:spPr>
      </p:pic>
      <p:pic>
        <p:nvPicPr>
          <p:cNvPr id="211" name="Image 1" descr="connector"/>
          <p:cNvPicPr/>
          <p:nvPr/>
        </p:nvPicPr>
        <p:blipFill>
          <a:blip r:embed="rId2"/>
          <a:stretch/>
        </p:blipFill>
        <p:spPr>
          <a:xfrm>
            <a:off x="7365960" y="2133720"/>
            <a:ext cx="1497960" cy="1053360"/>
          </a:xfrm>
          <a:prstGeom prst="rect">
            <a:avLst/>
          </a:prstGeom>
          <a:ln w="0">
            <a:noFill/>
          </a:ln>
        </p:spPr>
      </p:pic>
      <p:pic>
        <p:nvPicPr>
          <p:cNvPr id="212" name="Image 2" descr="connector"/>
          <p:cNvPicPr/>
          <p:nvPr/>
        </p:nvPicPr>
        <p:blipFill>
          <a:blip r:embed="rId3"/>
          <a:stretch/>
        </p:blipFill>
        <p:spPr>
          <a:xfrm>
            <a:off x="7365960" y="3086280"/>
            <a:ext cx="1497960" cy="100800"/>
          </a:xfrm>
          <a:prstGeom prst="rect">
            <a:avLst/>
          </a:prstGeom>
          <a:ln w="0">
            <a:noFill/>
          </a:ln>
        </p:spPr>
      </p:pic>
      <p:pic>
        <p:nvPicPr>
          <p:cNvPr id="213" name="Image 3" descr="connector"/>
          <p:cNvPicPr/>
          <p:nvPr/>
        </p:nvPicPr>
        <p:blipFill>
          <a:blip r:embed="rId4"/>
          <a:stretch/>
        </p:blipFill>
        <p:spPr>
          <a:xfrm>
            <a:off x="7365960" y="3086280"/>
            <a:ext cx="1497960" cy="1053360"/>
          </a:xfrm>
          <a:prstGeom prst="rect">
            <a:avLst/>
          </a:prstGeom>
          <a:ln w="0">
            <a:noFill/>
          </a:ln>
        </p:spPr>
      </p:pic>
      <p:sp>
        <p:nvSpPr>
          <p:cNvPr id="214" name="Text 14"/>
          <p:cNvSpPr/>
          <p:nvPr/>
        </p:nvSpPr>
        <p:spPr>
          <a:xfrm>
            <a:off x="3475800" y="2468880"/>
            <a:ext cx="9392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publishes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7543800" y="3898800"/>
            <a:ext cx="11930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subscribe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812880" y="4724280"/>
            <a:ext cx="528408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The publisher does not know who listens. </a:t>
            </a:r>
            <a:br>
              <a:rPr sz="1600"/>
            </a:b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Any node can subscribe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to /scan.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812880" y="5594400"/>
            <a:ext cx="528408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Nodes find each other automatically with the same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ROS_DOMAIN_ID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: that is why your PC sees the Jetson's topics.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 4" descr="Epitech"/>
          <p:cNvPicPr/>
          <p:nvPr/>
        </p:nvPicPr>
        <p:blipFill>
          <a:blip r:embed="rId5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6"/>
          <a:srcRect l="19624" t="15594" r="20363" b="14395"/>
          <a:stretch/>
        </p:blipFill>
        <p:spPr>
          <a:xfrm>
            <a:off x="192600" y="2834640"/>
            <a:ext cx="717480" cy="558000"/>
          </a:xfrm>
          <a:prstGeom prst="rect">
            <a:avLst/>
          </a:prstGeom>
          <a:ln w="0">
            <a:noFill/>
          </a:ln>
        </p:spPr>
      </p:pic>
      <p:cxnSp>
        <p:nvCxnSpPr>
          <p:cNvPr id="220" name=""/>
          <p:cNvCxnSpPr>
            <a:stCxn id="219" idx="3"/>
            <a:endCxn id="198" idx="-1"/>
          </p:cNvCxnSpPr>
          <p:nvPr/>
        </p:nvCxnSpPr>
        <p:spPr>
          <a:xfrm>
            <a:off x="910080" y="3113640"/>
            <a:ext cx="305280" cy="2304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pic>
        <p:nvPicPr>
          <p:cNvPr id="221" name="" descr=""/>
          <p:cNvPicPr/>
          <p:nvPr/>
        </p:nvPicPr>
        <p:blipFill>
          <a:blip r:embed="rId7"/>
          <a:srcRect l="0" t="33116" r="0" b="13538"/>
          <a:stretch/>
        </p:blipFill>
        <p:spPr>
          <a:xfrm>
            <a:off x="8794800" y="4764600"/>
            <a:ext cx="2571840" cy="182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ros2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Docker services and profiles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812880" y="16257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On the Jetson, each group of nodes runs in a Docker service, started by its profile.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819000" y="2170440"/>
            <a:ext cx="3713400" cy="970920"/>
          </a:xfrm>
          <a:prstGeom prst="roundRect">
            <a:avLst>
              <a:gd name="adj" fmla="val 1503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1051200" y="2377080"/>
            <a:ext cx="33469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Space Mono"/>
                <a:ea typeface="Space Mono"/>
              </a:rPr>
              <a:t>control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051200" y="2712240"/>
            <a:ext cx="33469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VESC, gamepad, odometry, TF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4701600" y="2173680"/>
            <a:ext cx="2788200" cy="964440"/>
          </a:xfrm>
          <a:prstGeom prst="roundRect">
            <a:avLst>
              <a:gd name="adj" fmla="val 14803"/>
            </a:avLst>
          </a:prstGeom>
          <a:solidFill>
            <a:srgbClr val="ffff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4935240" y="2381760"/>
            <a:ext cx="23904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13afb"/>
                </a:solidFill>
                <a:latin typeface="Space Mono"/>
                <a:ea typeface="Space Mono"/>
              </a:rPr>
              <a:t>lidar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4935240" y="2717280"/>
            <a:ext cx="23904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ldlidar, today's topic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7658640" y="2170440"/>
            <a:ext cx="3713400" cy="970920"/>
          </a:xfrm>
          <a:prstGeom prst="roundRect">
            <a:avLst>
              <a:gd name="adj" fmla="val 15033"/>
            </a:avLst>
          </a:prstGeom>
          <a:solidFill>
            <a:srgbClr val="eceef3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7890840" y="2377080"/>
            <a:ext cx="33469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5260"/>
                </a:solidFill>
                <a:latin typeface="Space Mono"/>
                <a:ea typeface="Space Mono"/>
              </a:rPr>
              <a:t>camera_3d_oak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7890840" y="2712240"/>
            <a:ext cx="334692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OAK-D, not used today in this bootstrap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812880" y="3402360"/>
            <a:ext cx="10565640" cy="1040760"/>
          </a:xfrm>
          <a:prstGeom prst="roundRect">
            <a:avLst>
              <a:gd name="adj" fmla="val 12195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1041480" y="3580200"/>
            <a:ext cx="104119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 the Jetson (ssh robocar@&lt;IP_Jetson&gt;)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Space Mono"/>
                <a:ea typeface="Space Mono"/>
              </a:rPr>
              <a:t>cd ~/Robocar_ROS2/docker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Space Mono"/>
                <a:ea typeface="Space Mono"/>
              </a:rPr>
              <a:t>docker compose up -d control lidar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  # start the control and lidar 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ros2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What is there, what is not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812880" y="1701720"/>
            <a:ext cx="6603120" cy="3453840"/>
          </a:xfrm>
          <a:prstGeom prst="roundRect">
            <a:avLst>
              <a:gd name="adj" fmla="val 5147"/>
            </a:avLst>
          </a:prstGeom>
          <a:solidFill>
            <a:srgbClr val="e8eb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7924680" y="1701720"/>
            <a:ext cx="3453840" cy="3453840"/>
          </a:xfrm>
          <a:prstGeom prst="roundRect">
            <a:avLst>
              <a:gd name="adj" fmla="val 5147"/>
            </a:avLst>
          </a:prstGeom>
          <a:solidFill>
            <a:srgbClr val="e8eb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965160" y="1765440"/>
            <a:ext cx="19612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jetson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8077320" y="1765440"/>
            <a:ext cx="1447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your-pc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971640" y="2216160"/>
            <a:ext cx="1637640" cy="812160"/>
          </a:xfrm>
          <a:prstGeom prst="roundRect">
            <a:avLst>
              <a:gd name="adj" fmla="val 11719"/>
            </a:avLst>
          </a:prstGeom>
          <a:solidFill>
            <a:srgbClr val="d2f9e6"/>
          </a:solidFill>
          <a:ln w="12700">
            <a:solidFill>
              <a:srgbClr val="00a8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1076400" y="2425680"/>
            <a:ext cx="14785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joy + joy_teleop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1076400" y="2629080"/>
            <a:ext cx="14785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f3b4a"/>
                </a:solidFill>
                <a:latin typeface="Inter"/>
                <a:ea typeface="Inter"/>
              </a:rPr>
              <a:t>→ </a:t>
            </a:r>
            <a:r>
              <a:rPr b="0" lang="en-US" sz="1200" spc="-1" strike="noStrike">
                <a:solidFill>
                  <a:srgbClr val="2f3b4a"/>
                </a:solidFill>
                <a:latin typeface="Inter"/>
                <a:ea typeface="Inter"/>
              </a:rPr>
              <a:t>/teleop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9"/>
          <p:cNvSpPr/>
          <p:nvPr/>
        </p:nvSpPr>
        <p:spPr>
          <a:xfrm>
            <a:off x="2927520" y="2216160"/>
            <a:ext cx="1764720" cy="812160"/>
          </a:xfrm>
          <a:prstGeom prst="roundRect">
            <a:avLst>
              <a:gd name="adj" fmla="val 11719"/>
            </a:avLst>
          </a:prstGeom>
          <a:solidFill>
            <a:srgbClr val="d2f9e6"/>
          </a:solidFill>
          <a:ln w="12700">
            <a:solidFill>
              <a:srgbClr val="00a8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3032280" y="2432160"/>
            <a:ext cx="1605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ackermann_mux + safety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1"/>
          <p:cNvSpPr/>
          <p:nvPr/>
        </p:nvSpPr>
        <p:spPr>
          <a:xfrm>
            <a:off x="4933800" y="2216160"/>
            <a:ext cx="2374200" cy="812160"/>
          </a:xfrm>
          <a:prstGeom prst="roundRect">
            <a:avLst>
              <a:gd name="adj" fmla="val 11719"/>
            </a:avLst>
          </a:prstGeom>
          <a:solidFill>
            <a:srgbClr val="d2f9e6"/>
          </a:solidFill>
          <a:ln w="12700">
            <a:solidFill>
              <a:srgbClr val="00a8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5038920" y="2330280"/>
            <a:ext cx="22291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vesc_driver + vesc_to_odom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5038920" y="2533680"/>
            <a:ext cx="2229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f3b4a"/>
                </a:solidFill>
                <a:latin typeface="Inter"/>
                <a:ea typeface="Inter"/>
              </a:rPr>
              <a:t>→ </a:t>
            </a:r>
            <a:r>
              <a:rPr b="0" lang="en-US" sz="1200" spc="-1" strike="noStrike">
                <a:solidFill>
                  <a:srgbClr val="2f3b4a"/>
                </a:solidFill>
                <a:latin typeface="Inter"/>
                <a:ea typeface="Inter"/>
              </a:rPr>
              <a:t>/odom, TF odom→base_link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4"/>
          <p:cNvSpPr/>
          <p:nvPr/>
        </p:nvSpPr>
        <p:spPr>
          <a:xfrm>
            <a:off x="4937040" y="3209760"/>
            <a:ext cx="2367720" cy="805680"/>
          </a:xfrm>
          <a:prstGeom prst="roundRect">
            <a:avLst>
              <a:gd name="adj" fmla="val 11417"/>
            </a:avLst>
          </a:prstGeom>
          <a:solidFill>
            <a:srgbClr val="dce4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5043960" y="3416400"/>
            <a:ext cx="2219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robot_state_publisher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5043960" y="3619440"/>
            <a:ext cx="2219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URDF → TF base_link→laser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4937040" y="4200480"/>
            <a:ext cx="2367720" cy="805680"/>
          </a:xfrm>
          <a:prstGeom prst="roundRect">
            <a:avLst>
              <a:gd name="adj" fmla="val 11417"/>
            </a:avLst>
          </a:prstGeom>
          <a:solidFill>
            <a:srgbClr val="dce4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5043960" y="4406760"/>
            <a:ext cx="2219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ldlidar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5043960" y="4610160"/>
            <a:ext cx="2219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→ </a:t>
            </a: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/scan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971640" y="4197240"/>
            <a:ext cx="1637640" cy="812160"/>
          </a:xfrm>
          <a:prstGeom prst="roundRect">
            <a:avLst>
              <a:gd name="adj" fmla="val 11719"/>
            </a:avLst>
          </a:prstGeom>
          <a:solidFill>
            <a:srgbClr val="f3f4f7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21"/>
          <p:cNvSpPr/>
          <p:nvPr/>
        </p:nvSpPr>
        <p:spPr>
          <a:xfrm>
            <a:off x="1076400" y="4406760"/>
            <a:ext cx="14785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5260"/>
                </a:solidFill>
                <a:latin typeface="Inter"/>
                <a:ea typeface="Inter"/>
              </a:rPr>
              <a:t>oak camera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1076400" y="4610160"/>
            <a:ext cx="14785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not done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3"/>
          <p:cNvSpPr/>
          <p:nvPr/>
        </p:nvSpPr>
        <p:spPr>
          <a:xfrm>
            <a:off x="2927520" y="4197240"/>
            <a:ext cx="1764720" cy="812160"/>
          </a:xfrm>
          <a:prstGeom prst="roundRect">
            <a:avLst>
              <a:gd name="adj" fmla="val 11719"/>
            </a:avLst>
          </a:prstGeom>
          <a:solidFill>
            <a:srgbClr val="f3f4f7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4"/>
          <p:cNvSpPr/>
          <p:nvPr/>
        </p:nvSpPr>
        <p:spPr>
          <a:xfrm>
            <a:off x="3032280" y="4406760"/>
            <a:ext cx="16052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5260"/>
                </a:solidFill>
                <a:latin typeface="Inter"/>
                <a:ea typeface="Inter"/>
              </a:rPr>
              <a:t>GPS RTK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25"/>
          <p:cNvSpPr/>
          <p:nvPr/>
        </p:nvSpPr>
        <p:spPr>
          <a:xfrm>
            <a:off x="3032280" y="4610160"/>
            <a:ext cx="16052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not done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6"/>
          <p:cNvSpPr/>
          <p:nvPr/>
        </p:nvSpPr>
        <p:spPr>
          <a:xfrm>
            <a:off x="8083440" y="2216160"/>
            <a:ext cx="2653560" cy="812160"/>
          </a:xfrm>
          <a:prstGeom prst="roundRect">
            <a:avLst>
              <a:gd name="adj" fmla="val 11719"/>
            </a:avLst>
          </a:prstGeom>
          <a:solidFill>
            <a:srgbClr val="f3f4f7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27"/>
          <p:cNvSpPr/>
          <p:nvPr/>
        </p:nvSpPr>
        <p:spPr>
          <a:xfrm>
            <a:off x="8188560" y="2425680"/>
            <a:ext cx="251676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5260"/>
                </a:solidFill>
                <a:latin typeface="Inter"/>
                <a:ea typeface="Inter"/>
              </a:rPr>
              <a:t>your node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8"/>
          <p:cNvSpPr/>
          <p:nvPr/>
        </p:nvSpPr>
        <p:spPr>
          <a:xfrm>
            <a:off x="8188560" y="2629080"/>
            <a:ext cx="251676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→ </a:t>
            </a: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/drive (not written yet)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9"/>
          <p:cNvSpPr/>
          <p:nvPr/>
        </p:nvSpPr>
        <p:spPr>
          <a:xfrm>
            <a:off x="8086680" y="3209760"/>
            <a:ext cx="2647080" cy="805680"/>
          </a:xfrm>
          <a:prstGeom prst="roundRect">
            <a:avLst>
              <a:gd name="adj" fmla="val 11417"/>
            </a:avLst>
          </a:prstGeom>
          <a:solidFill>
            <a:srgbClr val="dce4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30"/>
          <p:cNvSpPr/>
          <p:nvPr/>
        </p:nvSpPr>
        <p:spPr>
          <a:xfrm>
            <a:off x="8193240" y="3416400"/>
            <a:ext cx="2507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RViz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1"/>
          <p:cNvSpPr/>
          <p:nvPr/>
        </p:nvSpPr>
        <p:spPr>
          <a:xfrm>
            <a:off x="8193240" y="3619440"/>
            <a:ext cx="2507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displays scan, TF, map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2"/>
          <p:cNvSpPr/>
          <p:nvPr/>
        </p:nvSpPr>
        <p:spPr>
          <a:xfrm>
            <a:off x="8086680" y="4200480"/>
            <a:ext cx="2647080" cy="805680"/>
          </a:xfrm>
          <a:prstGeom prst="roundRect">
            <a:avLst>
              <a:gd name="adj" fmla="val 11417"/>
            </a:avLst>
          </a:prstGeom>
          <a:solidFill>
            <a:srgbClr val="dce4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33"/>
          <p:cNvSpPr/>
          <p:nvPr/>
        </p:nvSpPr>
        <p:spPr>
          <a:xfrm>
            <a:off x="8193240" y="4406760"/>
            <a:ext cx="2507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Inter"/>
                <a:ea typeface="Inter"/>
              </a:rPr>
              <a:t>slam_toolbox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4"/>
          <p:cNvSpPr/>
          <p:nvPr/>
        </p:nvSpPr>
        <p:spPr>
          <a:xfrm>
            <a:off x="8193240" y="4610160"/>
            <a:ext cx="250704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→ </a:t>
            </a:r>
            <a:r>
              <a:rPr b="0" lang="en-US" sz="1200" spc="-1" strike="noStrike">
                <a:solidFill>
                  <a:srgbClr val="1f2a5c"/>
                </a:solidFill>
                <a:latin typeface="Inter"/>
                <a:ea typeface="Inter"/>
              </a:rPr>
              <a:t>/map, TF map→odom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Image 0" descr="connector"/>
          <p:cNvPicPr/>
          <p:nvPr/>
        </p:nvPicPr>
        <p:blipFill>
          <a:blip r:embed="rId1"/>
          <a:stretch/>
        </p:blipFill>
        <p:spPr>
          <a:xfrm>
            <a:off x="2565360" y="2571840"/>
            <a:ext cx="405720" cy="100800"/>
          </a:xfrm>
          <a:prstGeom prst="rect">
            <a:avLst/>
          </a:prstGeom>
          <a:ln w="0">
            <a:noFill/>
          </a:ln>
        </p:spPr>
      </p:pic>
      <p:pic>
        <p:nvPicPr>
          <p:cNvPr id="273" name="Image 1" descr="connector"/>
          <p:cNvPicPr/>
          <p:nvPr/>
        </p:nvPicPr>
        <p:blipFill>
          <a:blip r:embed="rId2"/>
          <a:stretch/>
        </p:blipFill>
        <p:spPr>
          <a:xfrm>
            <a:off x="4648320" y="2571840"/>
            <a:ext cx="329400" cy="100800"/>
          </a:xfrm>
          <a:prstGeom prst="rect">
            <a:avLst/>
          </a:prstGeom>
          <a:ln w="0">
            <a:noFill/>
          </a:ln>
        </p:spPr>
      </p:pic>
      <p:pic>
        <p:nvPicPr>
          <p:cNvPr id="274" name="Image 2" descr="connector"/>
          <p:cNvPicPr/>
          <p:nvPr/>
        </p:nvPicPr>
        <p:blipFill>
          <a:blip r:embed="rId3"/>
          <a:stretch/>
        </p:blipFill>
        <p:spPr>
          <a:xfrm>
            <a:off x="9360000" y="1994040"/>
            <a:ext cx="100800" cy="266040"/>
          </a:xfrm>
          <a:prstGeom prst="rect">
            <a:avLst/>
          </a:prstGeom>
          <a:ln w="0">
            <a:noFill/>
          </a:ln>
        </p:spPr>
      </p:pic>
      <p:pic>
        <p:nvPicPr>
          <p:cNvPr id="275" name="Image 3" descr="connector"/>
          <p:cNvPicPr/>
          <p:nvPr/>
        </p:nvPicPr>
        <p:blipFill>
          <a:blip r:embed="rId4"/>
          <a:stretch/>
        </p:blipFill>
        <p:spPr>
          <a:xfrm>
            <a:off x="3759120" y="1994040"/>
            <a:ext cx="5701680" cy="100800"/>
          </a:xfrm>
          <a:prstGeom prst="rect">
            <a:avLst/>
          </a:prstGeom>
          <a:ln w="0">
            <a:noFill/>
          </a:ln>
        </p:spPr>
      </p:pic>
      <p:pic>
        <p:nvPicPr>
          <p:cNvPr id="276" name="Image 4" descr="connector"/>
          <p:cNvPicPr/>
          <p:nvPr/>
        </p:nvPicPr>
        <p:blipFill>
          <a:blip r:embed="rId5"/>
          <a:stretch/>
        </p:blipFill>
        <p:spPr>
          <a:xfrm>
            <a:off x="3759120" y="1994040"/>
            <a:ext cx="100800" cy="266040"/>
          </a:xfrm>
          <a:prstGeom prst="rect">
            <a:avLst/>
          </a:prstGeom>
          <a:ln w="0">
            <a:noFill/>
          </a:ln>
        </p:spPr>
      </p:pic>
      <p:pic>
        <p:nvPicPr>
          <p:cNvPr id="277" name="Image 5" descr="connector"/>
          <p:cNvPicPr/>
          <p:nvPr/>
        </p:nvPicPr>
        <p:blipFill>
          <a:blip r:embed="rId6"/>
          <a:stretch/>
        </p:blipFill>
        <p:spPr>
          <a:xfrm>
            <a:off x="7264440" y="2571840"/>
            <a:ext cx="456480" cy="100800"/>
          </a:xfrm>
          <a:prstGeom prst="rect">
            <a:avLst/>
          </a:prstGeom>
          <a:ln w="0">
            <a:noFill/>
          </a:ln>
        </p:spPr>
      </p:pic>
      <p:pic>
        <p:nvPicPr>
          <p:cNvPr id="278" name="Image 6" descr="connector"/>
          <p:cNvPicPr/>
          <p:nvPr/>
        </p:nvPicPr>
        <p:blipFill>
          <a:blip r:embed="rId7"/>
          <a:stretch/>
        </p:blipFill>
        <p:spPr>
          <a:xfrm>
            <a:off x="7264440" y="3562200"/>
            <a:ext cx="456480" cy="100800"/>
          </a:xfrm>
          <a:prstGeom prst="rect">
            <a:avLst/>
          </a:prstGeom>
          <a:ln w="0">
            <a:noFill/>
          </a:ln>
        </p:spPr>
      </p:pic>
      <p:pic>
        <p:nvPicPr>
          <p:cNvPr id="279" name="Image 7" descr="connector"/>
          <p:cNvPicPr/>
          <p:nvPr/>
        </p:nvPicPr>
        <p:blipFill>
          <a:blip r:embed="rId8"/>
          <a:stretch/>
        </p:blipFill>
        <p:spPr>
          <a:xfrm>
            <a:off x="7264440" y="4552920"/>
            <a:ext cx="456480" cy="100800"/>
          </a:xfrm>
          <a:prstGeom prst="rect">
            <a:avLst/>
          </a:prstGeom>
          <a:ln w="0">
            <a:noFill/>
          </a:ln>
        </p:spPr>
      </p:pic>
      <p:pic>
        <p:nvPicPr>
          <p:cNvPr id="280" name="Image 8" descr="connector"/>
          <p:cNvPicPr/>
          <p:nvPr/>
        </p:nvPicPr>
        <p:blipFill>
          <a:blip r:embed="rId9"/>
          <a:stretch/>
        </p:blipFill>
        <p:spPr>
          <a:xfrm>
            <a:off x="7620120" y="2571840"/>
            <a:ext cx="100800" cy="2082240"/>
          </a:xfrm>
          <a:prstGeom prst="rect">
            <a:avLst/>
          </a:prstGeom>
          <a:ln w="0">
            <a:noFill/>
          </a:ln>
        </p:spPr>
      </p:pic>
      <p:pic>
        <p:nvPicPr>
          <p:cNvPr id="281" name="Image 9" descr="connector"/>
          <p:cNvPicPr/>
          <p:nvPr/>
        </p:nvPicPr>
        <p:blipFill>
          <a:blip r:embed="rId10"/>
          <a:stretch/>
        </p:blipFill>
        <p:spPr>
          <a:xfrm>
            <a:off x="7620120" y="3562200"/>
            <a:ext cx="507240" cy="100800"/>
          </a:xfrm>
          <a:prstGeom prst="rect">
            <a:avLst/>
          </a:prstGeom>
          <a:ln w="0">
            <a:noFill/>
          </a:ln>
        </p:spPr>
      </p:pic>
      <p:pic>
        <p:nvPicPr>
          <p:cNvPr id="282" name="Image 10" descr="connector"/>
          <p:cNvPicPr/>
          <p:nvPr/>
        </p:nvPicPr>
        <p:blipFill>
          <a:blip r:embed="rId11"/>
          <a:stretch/>
        </p:blipFill>
        <p:spPr>
          <a:xfrm>
            <a:off x="7620120" y="4552920"/>
            <a:ext cx="507240" cy="100800"/>
          </a:xfrm>
          <a:prstGeom prst="rect">
            <a:avLst/>
          </a:prstGeom>
          <a:ln w="0">
            <a:noFill/>
          </a:ln>
        </p:spPr>
      </p:pic>
      <p:pic>
        <p:nvPicPr>
          <p:cNvPr id="283" name="Image 11" descr="connector"/>
          <p:cNvPicPr/>
          <p:nvPr/>
        </p:nvPicPr>
        <p:blipFill>
          <a:blip r:embed="rId12"/>
          <a:stretch/>
        </p:blipFill>
        <p:spPr>
          <a:xfrm>
            <a:off x="10693440" y="4552920"/>
            <a:ext cx="430920" cy="100800"/>
          </a:xfrm>
          <a:prstGeom prst="rect">
            <a:avLst/>
          </a:prstGeom>
          <a:ln w="0">
            <a:noFill/>
          </a:ln>
        </p:spPr>
      </p:pic>
      <p:pic>
        <p:nvPicPr>
          <p:cNvPr id="284" name="Image 12" descr="connector"/>
          <p:cNvPicPr/>
          <p:nvPr/>
        </p:nvPicPr>
        <p:blipFill>
          <a:blip r:embed="rId13"/>
          <a:stretch/>
        </p:blipFill>
        <p:spPr>
          <a:xfrm>
            <a:off x="11023560" y="3562200"/>
            <a:ext cx="100800" cy="1091520"/>
          </a:xfrm>
          <a:prstGeom prst="rect">
            <a:avLst/>
          </a:prstGeom>
          <a:ln w="0">
            <a:noFill/>
          </a:ln>
        </p:spPr>
      </p:pic>
      <p:pic>
        <p:nvPicPr>
          <p:cNvPr id="285" name="Image 13" descr="connector"/>
          <p:cNvPicPr/>
          <p:nvPr/>
        </p:nvPicPr>
        <p:blipFill>
          <a:blip r:embed="rId14"/>
          <a:stretch/>
        </p:blipFill>
        <p:spPr>
          <a:xfrm>
            <a:off x="10693440" y="3562200"/>
            <a:ext cx="430920" cy="100800"/>
          </a:xfrm>
          <a:prstGeom prst="rect">
            <a:avLst/>
          </a:prstGeom>
          <a:ln w="0">
            <a:noFill/>
          </a:ln>
        </p:spPr>
      </p:pic>
      <p:sp>
        <p:nvSpPr>
          <p:cNvPr id="286" name="Text 35"/>
          <p:cNvSpPr/>
          <p:nvPr/>
        </p:nvSpPr>
        <p:spPr>
          <a:xfrm>
            <a:off x="6095880" y="1790640"/>
            <a:ext cx="812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1a2b"/>
                </a:solidFill>
                <a:latin typeface="Space Mono"/>
                <a:ea typeface="Space Mono"/>
              </a:rPr>
              <a:t>/drive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6"/>
          <p:cNvSpPr/>
          <p:nvPr/>
        </p:nvSpPr>
        <p:spPr>
          <a:xfrm>
            <a:off x="819000" y="5332680"/>
            <a:ext cx="164520" cy="164520"/>
          </a:xfrm>
          <a:prstGeom prst="roundRect">
            <a:avLst>
              <a:gd name="adj" fmla="val 19231"/>
            </a:avLst>
          </a:prstGeom>
          <a:solidFill>
            <a:srgbClr val="d2f9e6"/>
          </a:solidFill>
          <a:ln w="12700">
            <a:solidFill>
              <a:srgbClr val="00a8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7"/>
          <p:cNvSpPr/>
          <p:nvPr/>
        </p:nvSpPr>
        <p:spPr>
          <a:xfrm>
            <a:off x="1143000" y="5308560"/>
            <a:ext cx="1814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Works, tested on the car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8"/>
          <p:cNvSpPr/>
          <p:nvPr/>
        </p:nvSpPr>
        <p:spPr>
          <a:xfrm>
            <a:off x="3067200" y="5335920"/>
            <a:ext cx="158040" cy="158040"/>
          </a:xfrm>
          <a:prstGeom prst="roundRect">
            <a:avLst>
              <a:gd name="adj" fmla="val 18000"/>
            </a:avLst>
          </a:prstGeom>
          <a:solidFill>
            <a:srgbClr val="dce4ff"/>
          </a:solidFill>
          <a:ln w="19050">
            <a:solidFill>
              <a:srgbClr val="013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9"/>
          <p:cNvSpPr/>
          <p:nvPr/>
        </p:nvSpPr>
        <p:spPr>
          <a:xfrm>
            <a:off x="3387960" y="5308560"/>
            <a:ext cx="10162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Today's topic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40"/>
          <p:cNvSpPr/>
          <p:nvPr/>
        </p:nvSpPr>
        <p:spPr>
          <a:xfrm>
            <a:off x="4512960" y="5332680"/>
            <a:ext cx="164520" cy="164520"/>
          </a:xfrm>
          <a:prstGeom prst="roundRect">
            <a:avLst>
              <a:gd name="adj" fmla="val 19231"/>
            </a:avLst>
          </a:prstGeom>
          <a:solidFill>
            <a:srgbClr val="f3f4f7"/>
          </a:solidFill>
          <a:ln w="12700">
            <a:solidFill>
              <a:srgbClr val="9aa1a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1"/>
          <p:cNvSpPr/>
          <p:nvPr/>
        </p:nvSpPr>
        <p:spPr>
          <a:xfrm>
            <a:off x="4836600" y="5308560"/>
            <a:ext cx="9766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Not done yet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42"/>
          <p:cNvSpPr/>
          <p:nvPr/>
        </p:nvSpPr>
        <p:spPr>
          <a:xfrm>
            <a:off x="9980640" y="5308560"/>
            <a:ext cx="1448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Space Mono"/>
                <a:ea typeface="Space Mono"/>
              </a:rPr>
              <a:t>ARCHITECTURE.md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Image 14" descr="Epitech"/>
          <p:cNvPicPr/>
          <p:nvPr/>
        </p:nvPicPr>
        <p:blipFill>
          <a:blip r:embed="rId15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driving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Start the car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812880" y="1752480"/>
            <a:ext cx="10565640" cy="487080"/>
          </a:xfrm>
          <a:prstGeom prst="roundRect">
            <a:avLst>
              <a:gd name="adj" fmla="val 15625"/>
            </a:avLst>
          </a:prstGeom>
          <a:solidFill>
            <a:srgbClr val="dce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812880" y="1752480"/>
            <a:ext cx="10565640" cy="487080"/>
          </a:xfrm>
          <a:custGeom>
            <a:avLst/>
            <a:gdLst>
              <a:gd name="textAreaLeft" fmla="*/ 0 w 10565640"/>
              <a:gd name="textAreaRight" fmla="*/ 10566360 w 10565640"/>
              <a:gd name="textAreaTop" fmla="*/ 0 h 487080"/>
              <a:gd name="textAreaBottom" fmla="*/ 487800 h 487080"/>
            </a:gdLst>
            <a:ahLst/>
            <a:rect l="textAreaLeft" t="textAreaTop" r="textAreaRight" b="textAreaBottom"/>
            <a:pathLst>
              <a:path w="10566400" h="487680">
                <a:moveTo>
                  <a:pt x="76200" y="487680"/>
                </a:moveTo>
                <a:lnTo>
                  <a:pt x="76200" y="48768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11480"/>
                </a:lnTo>
                <a:arcTo wR="25400" hR="76200" stAng="10800000" swAng="-5400000"/>
                <a:close/>
              </a:path>
            </a:pathLst>
          </a:cu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1039320" y="1854360"/>
            <a:ext cx="104662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a2b"/>
                </a:solidFill>
                <a:latin typeface="Inter"/>
                <a:ea typeface="Inter"/>
              </a:rPr>
              <a:t>Wheels in the air: car on a stand for the first tests.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812880" y="2443320"/>
            <a:ext cx="354960" cy="35496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787320" y="244332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1346040" y="2443320"/>
            <a:ext cx="103334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Plug in the LiDAR and the gamepad dongle,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then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 the battery (it powers the VESC and the Jetson). Wait about 1 min for ssh.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812880" y="3215520"/>
            <a:ext cx="354960" cy="35496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787320" y="321552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1346040" y="3215520"/>
            <a:ext cx="10333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Start the control profile and follow the logs.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1346040" y="3601800"/>
            <a:ext cx="10032120" cy="1218600"/>
          </a:xfrm>
          <a:prstGeom prst="roundRect">
            <a:avLst>
              <a:gd name="adj" fmla="val 10417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1574640" y="3754080"/>
            <a:ext cx="986220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 the Jetson (ssh robocar@&lt;IP_Jetson&gt;)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Space Mono"/>
                <a:ea typeface="Space Mono"/>
              </a:rPr>
              <a:t>cd ~/Robocar_ROS2/docker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           </a:t>
            </a:r>
            <a:r>
              <a:rPr b="0" i="1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folder with compose.yaml, all docker compose commands run from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Space Mono"/>
                <a:ea typeface="Space Mono"/>
              </a:rPr>
              <a:t>docker compose up -d control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     </a:t>
            </a:r>
            <a:r>
              <a:rPr b="0" i="1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start the control service in the background (-d)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Space Mono"/>
                <a:ea typeface="Space Mono"/>
              </a:rPr>
              <a:t>docker compose logs -f control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    </a:t>
            </a:r>
            <a:r>
              <a:rPr b="0" i="1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follow its logs, Ctrl+C to leave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1346040" y="5066640"/>
            <a:ext cx="103334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A few "Out-of-sync with VESC" errors at startup are normal. They stop after "Connected to VESC".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driving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Get a ROS 2 shell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812880" y="1625760"/>
            <a:ext cx="108828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ROS 2 is </a:t>
            </a:r>
            <a:r>
              <a:rPr b="1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not installed on the Jetson itself</a:t>
            </a: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, only in the containers !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812880" y="2423160"/>
            <a:ext cx="10565640" cy="1497960"/>
          </a:xfrm>
          <a:prstGeom prst="roundRect">
            <a:avLst>
              <a:gd name="adj" fmla="val 8475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1041480" y="2601000"/>
            <a:ext cx="10411920" cy="11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 the Jetson (ssh robocar@&lt;IP_Jetson&gt;)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cd ~/Robocar_ROS2/docker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docker compose exec control /entrypoint.sh bash   </a:t>
            </a:r>
            <a:r>
              <a:rPr b="0" lang="en-US" sz="1200" spc="-1" strike="noStrike">
                <a:solidFill>
                  <a:srgbClr val="999999"/>
                </a:solidFill>
                <a:latin typeface="Space Mono"/>
                <a:ea typeface="Space Mono"/>
              </a:rPr>
              <a:t># open a shell inside the control container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Now inside the control container. Type exit to go back to the Jetson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echo /sensors/core --once    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voltage_input ≈ battery voltage, fault_code 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819000" y="4156560"/>
            <a:ext cx="10553040" cy="859320"/>
          </a:xfrm>
          <a:prstGeom prst="roundRect">
            <a:avLst>
              <a:gd name="adj" fmla="val 16978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Image 0" descr="Warning"/>
          <p:cNvPicPr/>
          <p:nvPr/>
        </p:nvPicPr>
        <p:blipFill>
          <a:blip r:embed="rId1"/>
          <a:stretch/>
        </p:blipFill>
        <p:spPr>
          <a:xfrm>
            <a:off x="1051200" y="4434480"/>
            <a:ext cx="304200" cy="304200"/>
          </a:xfrm>
          <a:prstGeom prst="rect">
            <a:avLst/>
          </a:prstGeom>
          <a:ln w="0">
            <a:noFill/>
          </a:ln>
        </p:spPr>
      </p:pic>
      <p:sp>
        <p:nvSpPr>
          <p:cNvPr id="317" name="Text 6"/>
          <p:cNvSpPr/>
          <p:nvPr/>
        </p:nvSpPr>
        <p:spPr>
          <a:xfrm>
            <a:off x="1508400" y="4338000"/>
            <a:ext cx="99208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/entrypoint.sh loads ROS 2 and checks ROS_DOMAIN_ID. A plain docker exec -it &lt;container&gt; bash skips it, and ros2 is not found.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Image 1" descr="Epitech"/>
          <p:cNvPicPr/>
          <p:nvPr/>
        </p:nvPicPr>
        <p:blipFill>
          <a:blip r:embed="rId2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driving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Buttons and the safety chain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1" name="Table 0"/>
          <p:cNvGraphicFramePr/>
          <p:nvPr/>
        </p:nvGraphicFramePr>
        <p:xfrm>
          <a:off x="822600" y="1864080"/>
          <a:ext cx="5702040" cy="3034800"/>
        </p:xfrm>
        <a:graphic>
          <a:graphicData uri="http://schemas.openxmlformats.org/drawingml/2006/table">
            <a:tbl>
              <a:tblPr/>
              <a:tblGrid>
                <a:gridCol w="1596600"/>
                <a:gridCol w="4105800"/>
              </a:tblGrid>
              <a:tr h="436320"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Button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Effect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0532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</a:tr>
              <a:tr h="720720"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Nothing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The car does not move, even if a node publishes /drive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0"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LB held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Manual: left stick = speed, right stick = steering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  <a:tr h="436320"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RB held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Your node drives: /drive goes through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0"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RB + LB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r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The gamepad takes over from your node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920" marR="70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2" name="Shape 2"/>
          <p:cNvSpPr/>
          <p:nvPr/>
        </p:nvSpPr>
        <p:spPr>
          <a:xfrm>
            <a:off x="6829920" y="1854360"/>
            <a:ext cx="4548600" cy="4190400"/>
          </a:xfrm>
          <a:prstGeom prst="roundRect">
            <a:avLst>
              <a:gd name="adj" fmla="val 4242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3" name="Image 0" descr="Lock"/>
          <p:cNvPicPr/>
          <p:nvPr/>
        </p:nvPicPr>
        <p:blipFill>
          <a:blip r:embed="rId1"/>
          <a:stretch/>
        </p:blipFill>
        <p:spPr>
          <a:xfrm>
            <a:off x="7134840" y="301500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324" name="Text 3"/>
          <p:cNvSpPr/>
          <p:nvPr/>
        </p:nvSpPr>
        <p:spPr>
          <a:xfrm>
            <a:off x="7134840" y="3573720"/>
            <a:ext cx="40568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RB is a dead man's switch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4"/>
          <p:cNvSpPr/>
          <p:nvPr/>
        </p:nvSpPr>
        <p:spPr>
          <a:xfrm>
            <a:off x="7134840" y="4030920"/>
            <a:ext cx="405684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Release it and the car stops in </a:t>
            </a:r>
            <a:r>
              <a:rPr b="1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less than 0.2 s</a:t>
            </a:r>
            <a:r>
              <a:rPr b="0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. Same if the gamepad is lost or your node crashes.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 1" descr="Epitech"/>
          <p:cNvPicPr/>
          <p:nvPr/>
        </p:nvPicPr>
        <p:blipFill>
          <a:blip r:embed="rId2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part-2 · driving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Check your node is blocked without RB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812880" y="1854360"/>
            <a:ext cx="10565640" cy="812160"/>
          </a:xfrm>
          <a:prstGeom prst="roundRect">
            <a:avLst>
              <a:gd name="adj" fmla="val 15625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1041480" y="2031840"/>
            <a:ext cx="1041192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Inside the control container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pub -r 20 /drive ackermann_msgs/msg/AckermannDriveStamped "{drive: {speed: 0.5}}"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819000" y="2978280"/>
            <a:ext cx="3034440" cy="1045080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1051200" y="3210120"/>
            <a:ext cx="2647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no button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1051200" y="3486960"/>
            <a:ext cx="26478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Nothing moves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 0" descr="connector"/>
          <p:cNvPicPr/>
          <p:nvPr/>
        </p:nvPicPr>
        <p:blipFill>
          <a:blip r:embed="rId1"/>
          <a:stretch/>
        </p:blipFill>
        <p:spPr>
          <a:xfrm>
            <a:off x="4013280" y="3462840"/>
            <a:ext cx="405720" cy="75600"/>
          </a:xfrm>
          <a:prstGeom prst="rect">
            <a:avLst/>
          </a:prstGeom>
          <a:ln w="0">
            <a:noFill/>
          </a:ln>
        </p:spPr>
      </p:pic>
      <p:sp>
        <p:nvSpPr>
          <p:cNvPr id="335" name="Shape 7"/>
          <p:cNvSpPr/>
          <p:nvPr/>
        </p:nvSpPr>
        <p:spPr>
          <a:xfrm>
            <a:off x="4578480" y="2978280"/>
            <a:ext cx="3034440" cy="1045080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8"/>
          <p:cNvSpPr/>
          <p:nvPr/>
        </p:nvSpPr>
        <p:spPr>
          <a:xfrm>
            <a:off x="4810320" y="3210120"/>
            <a:ext cx="2647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hold RB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9"/>
          <p:cNvSpPr/>
          <p:nvPr/>
        </p:nvSpPr>
        <p:spPr>
          <a:xfrm>
            <a:off x="4810320" y="3486960"/>
            <a:ext cx="26478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The wheels turn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Image 1" descr="connector"/>
          <p:cNvPicPr/>
          <p:nvPr/>
        </p:nvPicPr>
        <p:blipFill>
          <a:blip r:embed="rId2"/>
          <a:stretch/>
        </p:blipFill>
        <p:spPr>
          <a:xfrm>
            <a:off x="7772400" y="3462840"/>
            <a:ext cx="405720" cy="75600"/>
          </a:xfrm>
          <a:prstGeom prst="rect">
            <a:avLst/>
          </a:prstGeom>
          <a:ln w="0">
            <a:noFill/>
          </a:ln>
        </p:spPr>
      </p:pic>
      <p:sp>
        <p:nvSpPr>
          <p:cNvPr id="339" name="Shape 10"/>
          <p:cNvSpPr/>
          <p:nvPr/>
        </p:nvSpPr>
        <p:spPr>
          <a:xfrm>
            <a:off x="8337600" y="2978280"/>
            <a:ext cx="3034440" cy="1045080"/>
          </a:xfrm>
          <a:prstGeom prst="roundRect">
            <a:avLst>
              <a:gd name="adj" fmla="val 13968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8569440" y="3210120"/>
            <a:ext cx="2647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release RB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8569440" y="3486960"/>
            <a:ext cx="26478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They stop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812880" y="62380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Ctrl+C to stop publishing.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 2" descr="Epitech"/>
          <p:cNvPicPr/>
          <p:nvPr/>
        </p:nvPicPr>
        <p:blipFill>
          <a:blip r:embed="rId3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345" name="Shape 0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2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812880" y="234072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Part 3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812880" y="2828160"/>
            <a:ext cx="108828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LiDAR integration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812880" y="3831480"/>
            <a:ext cx="85017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You can drive with the gamepad. Next: plug in the LiDAR, find it in the code, see it in RViz.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7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Plug it 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812880" y="1803240"/>
            <a:ext cx="354960" cy="35496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787320" y="180324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4"/>
          <p:cNvSpPr/>
          <p:nvPr/>
        </p:nvSpPr>
        <p:spPr>
          <a:xfrm>
            <a:off x="1346040" y="1803240"/>
            <a:ext cx="10333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Plug the LiDAR into the Jetson's USB. Its head starts spinning (you can hear it).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5"/>
          <p:cNvSpPr/>
          <p:nvPr/>
        </p:nvSpPr>
        <p:spPr>
          <a:xfrm>
            <a:off x="812880" y="2413080"/>
            <a:ext cx="354960" cy="35496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6"/>
          <p:cNvSpPr/>
          <p:nvPr/>
        </p:nvSpPr>
        <p:spPr>
          <a:xfrm>
            <a:off x="787320" y="241308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7"/>
          <p:cNvSpPr/>
          <p:nvPr/>
        </p:nvSpPr>
        <p:spPr>
          <a:xfrm>
            <a:off x="1346040" y="2413080"/>
            <a:ext cx="10333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Check that the Jetson sees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8"/>
          <p:cNvSpPr/>
          <p:nvPr/>
        </p:nvSpPr>
        <p:spPr>
          <a:xfrm>
            <a:off x="1346040" y="2773800"/>
            <a:ext cx="10032120" cy="482040"/>
          </a:xfrm>
          <a:prstGeom prst="roundRect">
            <a:avLst>
              <a:gd name="adj" fmla="val 26316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9"/>
          <p:cNvSpPr/>
          <p:nvPr/>
        </p:nvSpPr>
        <p:spPr>
          <a:xfrm>
            <a:off x="1574640" y="2900520"/>
            <a:ext cx="98622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ls -l /dev/lidar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→ ttyUSB*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0"/>
          <p:cNvSpPr/>
          <p:nvPr/>
        </p:nvSpPr>
        <p:spPr>
          <a:xfrm>
            <a:off x="812880" y="3510360"/>
            <a:ext cx="354960" cy="35496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11"/>
          <p:cNvSpPr/>
          <p:nvPr/>
        </p:nvSpPr>
        <p:spPr>
          <a:xfrm>
            <a:off x="787320" y="351036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2"/>
          <p:cNvSpPr/>
          <p:nvPr/>
        </p:nvSpPr>
        <p:spPr>
          <a:xfrm>
            <a:off x="1346040" y="3510360"/>
            <a:ext cx="10333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Start the lidar service (after a replug, add --force-recreate lidar).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3"/>
          <p:cNvSpPr/>
          <p:nvPr/>
        </p:nvSpPr>
        <p:spPr>
          <a:xfrm>
            <a:off x="1346040" y="3871080"/>
            <a:ext cx="10032120" cy="939240"/>
          </a:xfrm>
          <a:prstGeom prst="roundRect">
            <a:avLst>
              <a:gd name="adj" fmla="val 13514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4"/>
          <p:cNvSpPr/>
          <p:nvPr/>
        </p:nvSpPr>
        <p:spPr>
          <a:xfrm>
            <a:off x="1574640" y="3997800"/>
            <a:ext cx="98622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 the Jetson (ssh robocar@&lt;IP_Jetson&gt;)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cd ~/Robocar_ROS2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docker compose up -d control lidar   </a:t>
            </a:r>
            <a:r>
              <a:rPr b="0" lang="en-US" sz="1200" spc="-1" strike="noStrike">
                <a:solidFill>
                  <a:srgbClr val="999999"/>
                </a:solidFill>
                <a:latin typeface="Space Mono"/>
                <a:ea typeface="Space Mono"/>
              </a:rPr>
              <a:t># start the control and lidar 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0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Where it is in the code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812880" y="16257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Paths under ros2_ws/src/, except the compose file.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4" name="Table 0"/>
          <p:cNvGraphicFramePr/>
          <p:nvPr/>
        </p:nvGraphicFramePr>
        <p:xfrm>
          <a:off x="822600" y="2173680"/>
          <a:ext cx="10555920" cy="2298240"/>
        </p:xfrm>
        <a:graphic>
          <a:graphicData uri="http://schemas.openxmlformats.org/drawingml/2006/table">
            <a:tbl>
              <a:tblPr/>
              <a:tblGrid>
                <a:gridCol w="5911560"/>
                <a:gridCol w="4644720"/>
              </a:tblGrid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File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6f7fb"/>
                          </a:solidFill>
                          <a:latin typeface="Inter"/>
                          <a:ea typeface="Inter"/>
                        </a:rPr>
                        <a:t>Role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0532c8"/>
                      </a:solidFill>
                      <a:prstDash val="solid"/>
                    </a:lnL>
                    <a:lnR w="12240">
                      <a:solidFill>
                        <a:srgbClr val="0532c8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0532c8"/>
                      </a:solidFill>
                      <a:prstDash val="solid"/>
                    </a:lnB>
                    <a:solidFill>
                      <a:srgbClr val="013afb"/>
                    </a:solidFill>
                  </a:tcPr>
                </a:tc>
              </a:tr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docker/compose.yaml, service lidar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Starts the container, gives it /dev/lidar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0532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robocar_bringup/launch/lidar.launch.py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Starts the ldlidar node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robocar_bringup/config/lidar.yaml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Settings: port, baud rate, topic scan, frame laser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third_party/ldlidar_stl_ros2/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The manufacturer's driver (not modified)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4c5c8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4c5c8"/>
                      </a:solidFill>
                      <a:prstDash val="solid"/>
                    </a:lnB>
                    <a:noFill/>
                  </a:tcPr>
                </a:tc>
              </a:tr>
              <a:tr h="383040"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robocar_description/urdf/robocar.urdf.xacro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4c5c8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1920" r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</a:rPr>
                        <a:t>Where the LiDAR sits on the car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1920" marR="619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4c5c8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75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Check it works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812880" y="16257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From your PC (set up as in README.md §2), or inside the control container.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812880" y="2138760"/>
            <a:ext cx="10565640" cy="1269360"/>
          </a:xfrm>
          <a:prstGeom prst="roundRect">
            <a:avLst>
              <a:gd name="adj" fmla="val 10000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1041480" y="2316600"/>
            <a:ext cx="10411920" cy="9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list                             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/scan must be there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info /scan -v            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who publishes (ldlidar), who subscribes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hz /scan                   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~10 Hz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topic echo /scan --once  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one message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5"/>
          <p:cNvSpPr/>
          <p:nvPr/>
        </p:nvSpPr>
        <p:spPr>
          <a:xfrm>
            <a:off x="819000" y="3643560"/>
            <a:ext cx="3407040" cy="1065240"/>
          </a:xfrm>
          <a:prstGeom prst="roundRect">
            <a:avLst>
              <a:gd name="adj" fmla="val 1370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1025640" y="3825000"/>
            <a:ext cx="3083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ranges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1025640" y="4101840"/>
            <a:ext cx="30837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One distance per angle, in metres. inf or 0.0 means no return.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8"/>
          <p:cNvSpPr/>
          <p:nvPr/>
        </p:nvSpPr>
        <p:spPr>
          <a:xfrm>
            <a:off x="4392000" y="3643560"/>
            <a:ext cx="3407040" cy="1065240"/>
          </a:xfrm>
          <a:prstGeom prst="roundRect">
            <a:avLst>
              <a:gd name="adj" fmla="val 1370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4598640" y="3825000"/>
            <a:ext cx="30837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angle_min, angle_max, angle_increment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4598640" y="4314960"/>
            <a:ext cx="3083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Which angle each value corresponds 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7965000" y="3643560"/>
            <a:ext cx="3407040" cy="1065240"/>
          </a:xfrm>
          <a:prstGeom prst="roundRect">
            <a:avLst>
              <a:gd name="adj" fmla="val 1370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12"/>
          <p:cNvSpPr/>
          <p:nvPr/>
        </p:nvSpPr>
        <p:spPr>
          <a:xfrm>
            <a:off x="8171640" y="3825000"/>
            <a:ext cx="3083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header.frame_id: laser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8171640" y="4101840"/>
            <a:ext cx="30837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The frame the measures are expressed in (next slide).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51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52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Plug it with the control (for the TFs)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58"/>
          <p:cNvSpPr/>
          <p:nvPr/>
        </p:nvSpPr>
        <p:spPr>
          <a:xfrm>
            <a:off x="3055320" y="2790360"/>
            <a:ext cx="40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Space Mono"/>
                <a:ea typeface="Space Mono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37"/>
          <p:cNvSpPr/>
          <p:nvPr/>
        </p:nvSpPr>
        <p:spPr>
          <a:xfrm>
            <a:off x="2930040" y="3007080"/>
            <a:ext cx="6426360" cy="939240"/>
          </a:xfrm>
          <a:prstGeom prst="roundRect">
            <a:avLst>
              <a:gd name="adj" fmla="val 13514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60"/>
          <p:cNvSpPr/>
          <p:nvPr/>
        </p:nvSpPr>
        <p:spPr>
          <a:xfrm>
            <a:off x="3158640" y="3133800"/>
            <a:ext cx="61977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On the Jetson (ssh robocar@&lt;IP_Jetson&gt;)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cd ~/Robocar_ROS2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docker compose up -d control     </a:t>
            </a:r>
            <a:r>
              <a:rPr b="0" lang="en-US" sz="1200" spc="-1" strike="noStrike">
                <a:solidFill>
                  <a:srgbClr val="999999"/>
                </a:solidFill>
                <a:latin typeface="Space Mono"/>
                <a:ea typeface="Space Mono"/>
              </a:rPr>
              <a:t># start the control container  (lidar already running)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6" name="Image 19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Frames and TF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819000" y="1989720"/>
            <a:ext cx="3407040" cy="1215000"/>
          </a:xfrm>
          <a:prstGeom prst="roundRect">
            <a:avLst>
              <a:gd name="adj" fmla="val 1201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3"/>
          <p:cNvSpPr/>
          <p:nvPr/>
        </p:nvSpPr>
        <p:spPr>
          <a:xfrm>
            <a:off x="1000440" y="2145600"/>
            <a:ext cx="31359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1a2b"/>
                </a:solidFill>
                <a:latin typeface="Inter"/>
                <a:ea typeface="Inter"/>
              </a:rPr>
              <a:t>Frame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1000440" y="2409840"/>
            <a:ext cx="3135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An origin and three axes. On the car: x forward, y left, z up (REP-103).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815760" y="3452400"/>
            <a:ext cx="3407040" cy="1215000"/>
          </a:xfrm>
          <a:prstGeom prst="roundRect">
            <a:avLst>
              <a:gd name="adj" fmla="val 1201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997200" y="3608280"/>
            <a:ext cx="31359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1a2b"/>
                </a:solidFill>
                <a:latin typeface="Inter"/>
                <a:ea typeface="Inter"/>
              </a:rPr>
              <a:t>base_link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7"/>
          <p:cNvSpPr/>
          <p:nvPr/>
        </p:nvSpPr>
        <p:spPr>
          <a:xfrm>
            <a:off x="997200" y="3872520"/>
            <a:ext cx="31359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The car itself: centre of the rear axle, on the ground. Each sensor has its own frame.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806400" y="4908600"/>
            <a:ext cx="3407040" cy="1215000"/>
          </a:xfrm>
          <a:prstGeom prst="roundRect">
            <a:avLst>
              <a:gd name="adj" fmla="val 12013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987480" y="5064480"/>
            <a:ext cx="31359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1a2b"/>
                </a:solidFill>
                <a:latin typeface="Inter"/>
                <a:ea typeface="Inter"/>
              </a:rPr>
              <a:t>TF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987480" y="5328720"/>
            <a:ext cx="313596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Pose of one frame relative to another: a LiDAR point → the car → the map.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Image 5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409" name="" descr=""/>
          <p:cNvPicPr/>
          <p:nvPr/>
        </p:nvPicPr>
        <p:blipFill>
          <a:blip r:embed="rId2"/>
          <a:stretch/>
        </p:blipFill>
        <p:spPr>
          <a:xfrm>
            <a:off x="5486400" y="37440"/>
            <a:ext cx="3657600" cy="67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The sensor positions are placeholders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7103880" y="2057400"/>
            <a:ext cx="427428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A wrong position gives a wrong map.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3" name="Image 1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414" name="" descr=""/>
          <p:cNvPicPr/>
          <p:nvPr/>
        </p:nvPicPr>
        <p:blipFill>
          <a:blip r:embed="rId2"/>
          <a:stretch/>
        </p:blipFill>
        <p:spPr>
          <a:xfrm>
            <a:off x="1756800" y="3490560"/>
            <a:ext cx="8448480" cy="283824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 txBox="1"/>
          <p:nvPr/>
        </p:nvSpPr>
        <p:spPr>
          <a:xfrm>
            <a:off x="1780200" y="1841400"/>
            <a:ext cx="8386200" cy="16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 URDF currently puts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- base_link (=odom) between the rear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wheels, on the ground.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- the LiDAR at x = 0.25 m, z = 0.15 m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(relative to base_link)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Measure where you mounted your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LiDAR, camera and GPS (</a:t>
            </a:r>
            <a:r>
              <a:rPr b="0" lang="en-US" sz="1400" spc="-1" strike="noStrike">
                <a:solidFill>
                  <a:srgbClr val="7b3d00"/>
                </a:solidFill>
                <a:latin typeface="Arial"/>
              </a:rPr>
              <a:t>relative to </a:t>
            </a:r>
            <a:r>
              <a:rPr b="0" lang="en-US" sz="1400" spc="-1" strike="noStrike">
                <a:solidFill>
                  <a:srgbClr val="7b3d00"/>
                </a:solidFill>
                <a:latin typeface="Arial"/>
              </a:rPr>
              <a:t>base_link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then update </a:t>
            </a:r>
            <a:r>
              <a:rPr b="0" i="1" lang="en-US" sz="1400" spc="-1" strike="noStrike">
                <a:solidFill>
                  <a:srgbClr val="666666"/>
                </a:solidFill>
                <a:latin typeface="Arial"/>
              </a:rPr>
              <a:t>robocar_description/urdf/robocar.urdf.x</a:t>
            </a:r>
            <a:r>
              <a:rPr b="0" i="1" lang="en-US" sz="1400" spc="-1" strike="noStrike">
                <a:solidFill>
                  <a:srgbClr val="666666"/>
                </a:solidFill>
                <a:latin typeface="Arial"/>
              </a:rPr>
              <a:t>acro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7b3d00"/>
                </a:solidFill>
                <a:latin typeface="Arial"/>
              </a:rPr>
              <a:t>Wrong position = Wrong map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part-3 · lidar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See it in RViz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812880" y="162576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On your PC: ROS 2 Jazzy native (Ubuntu 24.04), same ROS_DOMAIN_ID as the car, then run rviz2.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812880" y="207756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4"/>
          <p:cNvSpPr/>
          <p:nvPr/>
        </p:nvSpPr>
        <p:spPr>
          <a:xfrm>
            <a:off x="787320" y="207756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1295280" y="207756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Global Options → Fixed Frame: base_link.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 The default map does not exist yet, hence the red error.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812880" y="249696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787320" y="249696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1295280" y="249696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Add → TF.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 You see the base_link, laser, camera_link axes (red = x, green = y, blue = z).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812880" y="291600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787320" y="291600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1295280" y="291600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Add → LaserScan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, topic /scan, size 0.03.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819000" y="3430440"/>
            <a:ext cx="5828400" cy="1001880"/>
          </a:xfrm>
          <a:prstGeom prst="roundRect">
            <a:avLst>
              <a:gd name="adj" fmla="val 14569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1025640" y="3585960"/>
            <a:ext cx="55774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1a2b"/>
                </a:solidFill>
                <a:latin typeface="Inter"/>
                <a:ea typeface="Inter"/>
              </a:rPr>
              <a:t>Sanity check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4"/>
          <p:cNvSpPr/>
          <p:nvPr/>
        </p:nvSpPr>
        <p:spPr>
          <a:xfrm>
            <a:off x="1025640" y="3850200"/>
            <a:ext cx="5577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556"/>
                </a:solidFill>
                <a:latin typeface="Inter"/>
                <a:ea typeface="Inter"/>
              </a:rPr>
              <a:t>Object in front → on the red axis (x+). Object on the left → on the green axis (y+).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6806880" y="3423960"/>
            <a:ext cx="4571640" cy="1014480"/>
          </a:xfrm>
          <a:prstGeom prst="roundRect">
            <a:avLst>
              <a:gd name="adj" fmla="val 15013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16"/>
          <p:cNvSpPr/>
          <p:nvPr/>
        </p:nvSpPr>
        <p:spPr>
          <a:xfrm>
            <a:off x="7009920" y="3799440"/>
            <a:ext cx="429012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6f7fb"/>
                </a:solidFill>
                <a:latin typeface="Inter"/>
                <a:ea typeface="Inter"/>
              </a:rPr>
              <a:t>If you see the LiDAR points, </a:t>
            </a:r>
            <a:r>
              <a:rPr b="1" lang="en-US" sz="1600" spc="-1" strike="noStrike">
                <a:solidFill>
                  <a:srgbClr val="00ff97"/>
                </a:solidFill>
                <a:latin typeface="Inter"/>
                <a:ea typeface="Inter"/>
              </a:rPr>
              <a:t>you win!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812880" y="62380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PC sees no topic? README.md §6 (Troubleshooting)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435" name="" descr=""/>
          <p:cNvPicPr/>
          <p:nvPr/>
        </p:nvPicPr>
        <p:blipFill>
          <a:blip r:embed="rId2"/>
          <a:srcRect l="0" t="33116" r="0" b="13538"/>
          <a:stretch/>
        </p:blipFill>
        <p:spPr>
          <a:xfrm>
            <a:off x="7543800" y="4474800"/>
            <a:ext cx="3137400" cy="223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437" name="Shape 0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3"/>
          <p:cNvSpPr/>
          <p:nvPr/>
        </p:nvSpPr>
        <p:spPr>
          <a:xfrm>
            <a:off x="812880" y="171720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Part 4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812880" y="2204640"/>
            <a:ext cx="108828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SLAM: leads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812880" y="3207960"/>
            <a:ext cx="850176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Build a map while locating the car in it: each new scan is matched against the previous ones to estimate motion, and the map grows as you drive.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812880" y="443988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ff97"/>
                </a:solidFill>
                <a:latin typeface="Inter"/>
                <a:ea typeface="Inter"/>
              </a:rPr>
              <a:t>This part is yours: leads, not a validated solution.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7"/>
          <p:cNvSpPr/>
          <p:nvPr/>
        </p:nvSpPr>
        <p:spPr>
          <a:xfrm>
            <a:off x="812880" y="49276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Guide and known pitfalls: pc/slam/README.md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8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9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1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part-4 · slam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Where to run it: to be tested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2"/>
          <p:cNvSpPr/>
          <p:nvPr/>
        </p:nvSpPr>
        <p:spPr>
          <a:xfrm>
            <a:off x="812880" y="162576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4556"/>
                </a:solidFill>
                <a:latin typeface="Inter"/>
                <a:ea typeface="Inter"/>
              </a:rPr>
              <a:t>Nobody knows yet whether the Jetson can handle it. Try, measure, decide.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3"/>
          <p:cNvSpPr/>
          <p:nvPr/>
        </p:nvSpPr>
        <p:spPr>
          <a:xfrm>
            <a:off x="819000" y="2170440"/>
            <a:ext cx="5168160" cy="386784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4"/>
          <p:cNvSpPr/>
          <p:nvPr/>
        </p:nvSpPr>
        <p:spPr>
          <a:xfrm>
            <a:off x="1076400" y="2427840"/>
            <a:ext cx="47930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On the Jetson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5"/>
          <p:cNvSpPr/>
          <p:nvPr/>
        </p:nvSpPr>
        <p:spPr>
          <a:xfrm>
            <a:off x="1076400" y="2859480"/>
            <a:ext cx="47930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a47"/>
                </a:solidFill>
                <a:latin typeface="Space Mono"/>
                <a:ea typeface="Space Mono"/>
              </a:rPr>
              <a:t>+ pros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6"/>
          <p:cNvSpPr/>
          <p:nvPr/>
        </p:nvSpPr>
        <p:spPr>
          <a:xfrm>
            <a:off x="1076400" y="3200040"/>
            <a:ext cx="4793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No network in the loop.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7"/>
          <p:cNvSpPr/>
          <p:nvPr/>
        </p:nvSpPr>
        <p:spPr>
          <a:xfrm>
            <a:off x="1076400" y="3575880"/>
            <a:ext cx="47930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− </a:t>
            </a: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what may block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8"/>
          <p:cNvSpPr/>
          <p:nvPr/>
        </p:nvSpPr>
        <p:spPr>
          <a:xfrm>
            <a:off x="1076400" y="3916080"/>
            <a:ext cx="479304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4 small CPU cores, 4 GB RAM shared with the GPU: the map may lag (check with tegrastats). </a:t>
            </a:r>
            <a:br>
              <a:rPr sz="1400"/>
            </a:b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slam_toolbox is not in the car image: add 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9"/>
          <p:cNvSpPr/>
          <p:nvPr/>
        </p:nvSpPr>
        <p:spPr>
          <a:xfrm>
            <a:off x="6203880" y="2170440"/>
            <a:ext cx="5168160" cy="386784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10"/>
          <p:cNvSpPr/>
          <p:nvPr/>
        </p:nvSpPr>
        <p:spPr>
          <a:xfrm>
            <a:off x="6461280" y="2427840"/>
            <a:ext cx="47930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1a2b"/>
                </a:solidFill>
                <a:latin typeface="Inter"/>
                <a:ea typeface="Inter"/>
              </a:rPr>
              <a:t>On your PC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11"/>
          <p:cNvSpPr/>
          <p:nvPr/>
        </p:nvSpPr>
        <p:spPr>
          <a:xfrm>
            <a:off x="6461280" y="2859480"/>
            <a:ext cx="47930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a47"/>
                </a:solidFill>
                <a:latin typeface="Space Mono"/>
                <a:ea typeface="Space Mono"/>
              </a:rPr>
              <a:t>+ pros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12"/>
          <p:cNvSpPr/>
          <p:nvPr/>
        </p:nvSpPr>
        <p:spPr>
          <a:xfrm>
            <a:off x="6461280" y="3200040"/>
            <a:ext cx="4793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Plenty of CPU, easy to debug with RViz.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3"/>
          <p:cNvSpPr/>
          <p:nvPr/>
        </p:nvSpPr>
        <p:spPr>
          <a:xfrm>
            <a:off x="6461280" y="3575880"/>
            <a:ext cx="47930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− </a:t>
            </a:r>
            <a:r>
              <a:rPr b="1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what may block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4"/>
          <p:cNvSpPr/>
          <p:nvPr/>
        </p:nvSpPr>
        <p:spPr>
          <a:xfrm>
            <a:off x="6461280" y="3916080"/>
            <a:ext cx="479304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/scan and TF go over Wi-Fi: a drop or lag loses scans. </a:t>
            </a:r>
            <a:br>
              <a:rPr sz="1400"/>
            </a:b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PC and Jetson clocks must match, or the data is rejected.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4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2"/>
          <a:stretch/>
        </p:blipFill>
        <p:spPr>
          <a:xfrm>
            <a:off x="8964000" y="950400"/>
            <a:ext cx="2994840" cy="169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part-4 · slam · starting-point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slam_toolbox: install and launch (TO DO)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812880" y="175248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787320" y="175248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1295280" y="175248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Install it on your PC.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5"/>
          <p:cNvSpPr/>
          <p:nvPr/>
        </p:nvSpPr>
        <p:spPr>
          <a:xfrm>
            <a:off x="1295280" y="2077560"/>
            <a:ext cx="10083240" cy="430920"/>
          </a:xfrm>
          <a:prstGeom prst="roundRect">
            <a:avLst>
              <a:gd name="adj" fmla="val 29412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1498680" y="2179440"/>
            <a:ext cx="9966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sudo apt install ros-jazzy-slam-toolbox ros-jazzy-nav2-map-server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812880" y="271260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8"/>
          <p:cNvSpPr/>
          <p:nvPr/>
        </p:nvSpPr>
        <p:spPr>
          <a:xfrm>
            <a:off x="787320" y="271260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1295280" y="271260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Check its inputs: /scan (~10 Hz), /odom, and </a:t>
            </a: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ros2 run tf2_ros tf2_echo odom laser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 must print a transform.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>
            <a:off x="812880" y="322056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11"/>
          <p:cNvSpPr/>
          <p:nvPr/>
        </p:nvSpPr>
        <p:spPr>
          <a:xfrm>
            <a:off x="787320" y="322056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2"/>
          <p:cNvSpPr/>
          <p:nvPr/>
        </p:nvSpPr>
        <p:spPr>
          <a:xfrm>
            <a:off x="1295280" y="322056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Start it with the provided config (the F1TENTH one, adapted).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3"/>
          <p:cNvSpPr/>
          <p:nvPr/>
        </p:nvSpPr>
        <p:spPr>
          <a:xfrm>
            <a:off x="1295280" y="3546000"/>
            <a:ext cx="10083240" cy="888120"/>
          </a:xfrm>
          <a:prstGeom prst="roundRect">
            <a:avLst>
              <a:gd name="adj" fmla="val 14286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1498680" y="3647520"/>
            <a:ext cx="99669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cd Robocar_ROS2 </a:t>
            </a:r>
            <a:r>
              <a:rPr b="0" lang="en-US" sz="1200" spc="-1" strike="noStrike">
                <a:solidFill>
                  <a:srgbClr val="7eb9a6"/>
                </a:solidFill>
                <a:latin typeface="Space Mono"/>
                <a:ea typeface="Space Mono"/>
              </a:rPr>
              <a:t># your clone of the repository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launch slam_toolbox online_async_launch.py \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slam_params_file:=$PWD/pc/slam/f1tenth_online_async.yaml use_sim_time:=false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15"/>
          <p:cNvSpPr/>
          <p:nvPr/>
        </p:nvSpPr>
        <p:spPr>
          <a:xfrm>
            <a:off x="812880" y="62380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878"/>
                </a:solidFill>
                <a:latin typeface="Inter"/>
                <a:ea typeface="Inter"/>
              </a:rPr>
              <a:t>slam_toolbox (github.com/SteveMacenski/slam_toolbox): the standard ROS 2 SLAM library, also used by F1TENTH.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0" descr="Epitech"/>
          <p:cNvPicPr/>
          <p:nvPr/>
        </p:nvPicPr>
        <p:blipFill>
          <a:blip r:embed="rId1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812880" y="812880"/>
            <a:ext cx="108828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13afb"/>
                </a:solidFill>
                <a:latin typeface="Space Mono"/>
                <a:ea typeface="Space Mono"/>
              </a:rPr>
              <a:t>&lt; part-4 · slam · starting-point /&gt;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812880" y="1102320"/>
            <a:ext cx="1088280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521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e1a2b"/>
                </a:solidFill>
                <a:latin typeface="Inter"/>
                <a:ea typeface="Inter"/>
              </a:rPr>
              <a:t>Build and save the map (TO DO)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"/>
          <p:cNvSpPr/>
          <p:nvPr/>
        </p:nvSpPr>
        <p:spPr>
          <a:xfrm>
            <a:off x="812880" y="177804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787320" y="177804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1295280" y="177804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In RViz: </a:t>
            </a: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Fixed Frame map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, then </a:t>
            </a: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Add → Map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, topic /map.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812880" y="231156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787320" y="231156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1295280" y="231156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Drive </a:t>
            </a: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slowly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 with the gamepad (LB). Loops and going back through the same places help.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8"/>
          <p:cNvSpPr/>
          <p:nvPr/>
        </p:nvSpPr>
        <p:spPr>
          <a:xfrm>
            <a:off x="812880" y="2844720"/>
            <a:ext cx="304200" cy="304200"/>
          </a:xfrm>
          <a:prstGeom prst="roundRect">
            <a:avLst>
              <a:gd name="adj" fmla="val 50000"/>
            </a:avLst>
          </a:prstGeom>
          <a:solidFill>
            <a:srgbClr val="013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9"/>
          <p:cNvSpPr/>
          <p:nvPr/>
        </p:nvSpPr>
        <p:spPr>
          <a:xfrm>
            <a:off x="787320" y="2844720"/>
            <a:ext cx="354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ts val="2395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6f7fb"/>
                </a:solidFill>
                <a:latin typeface="Space Mono"/>
                <a:ea typeface="Space Mon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1295280" y="2844720"/>
            <a:ext cx="10385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Save the map.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1"/>
          <p:cNvSpPr/>
          <p:nvPr/>
        </p:nvSpPr>
        <p:spPr>
          <a:xfrm>
            <a:off x="1295280" y="3169800"/>
            <a:ext cx="10083240" cy="430920"/>
          </a:xfrm>
          <a:prstGeom prst="roundRect">
            <a:avLst>
              <a:gd name="adj" fmla="val 29412"/>
            </a:avLst>
          </a:prstGeom>
          <a:solidFill>
            <a:srgbClr val="0e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1498680" y="3271680"/>
            <a:ext cx="9966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6f7fb"/>
                </a:solidFill>
                <a:latin typeface="Space Mono"/>
                <a:ea typeface="Space Mono"/>
              </a:rPr>
              <a:t>ros2 run nav2_map_server map_saver_cli -f my_room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819000" y="3836520"/>
            <a:ext cx="10553040" cy="666360"/>
          </a:xfrm>
          <a:prstGeom prst="roundRect">
            <a:avLst>
              <a:gd name="adj" fmla="val 21891"/>
            </a:avLst>
          </a:prstGeom>
          <a:solidFill>
            <a:srgbClr val="ffffff"/>
          </a:solidFill>
          <a:ln w="12700">
            <a:solidFill>
              <a:srgbClr val="0e1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7" name="Image 0" descr="Lightbulb"/>
          <p:cNvPicPr/>
          <p:nvPr/>
        </p:nvPicPr>
        <p:blipFill>
          <a:blip r:embed="rId1"/>
          <a:stretch/>
        </p:blipFill>
        <p:spPr>
          <a:xfrm>
            <a:off x="1051200" y="4017960"/>
            <a:ext cx="304200" cy="304200"/>
          </a:xfrm>
          <a:prstGeom prst="rect">
            <a:avLst/>
          </a:prstGeom>
          <a:ln w="0">
            <a:noFill/>
          </a:ln>
        </p:spPr>
      </p:pic>
      <p:sp>
        <p:nvSpPr>
          <p:cNvPr id="498" name="Text 14"/>
          <p:cNvSpPr/>
          <p:nvPr/>
        </p:nvSpPr>
        <p:spPr>
          <a:xfrm>
            <a:off x="1508400" y="4045680"/>
            <a:ext cx="992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Tune without the car:</a:t>
            </a:r>
            <a:r>
              <a:rPr b="0" lang="en-US" sz="1400" spc="-1" strike="noStrike">
                <a:solidFill>
                  <a:srgbClr val="3a4556"/>
                </a:solidFill>
                <a:latin typeface="Inter"/>
                <a:ea typeface="Inter"/>
              </a:rPr>
              <a:t> record a bag and replay it (pc/slam/README.md).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9" name="Image 1" descr="Epitech"/>
          <p:cNvPicPr/>
          <p:nvPr/>
        </p:nvPicPr>
        <p:blipFill>
          <a:blip r:embed="rId2"/>
          <a:srcRect l="0" t="-103" r="0" b="-103"/>
          <a:stretch/>
        </p:blipFill>
        <p:spPr>
          <a:xfrm>
            <a:off x="10331280" y="355680"/>
            <a:ext cx="1046880" cy="253440"/>
          </a:xfrm>
          <a:prstGeom prst="rect">
            <a:avLst/>
          </a:prstGeom>
          <a:ln w="0">
            <a:noFill/>
          </a:ln>
        </p:spPr>
      </p:pic>
      <p:pic>
        <p:nvPicPr>
          <p:cNvPr id="500" name="" descr=""/>
          <p:cNvPicPr/>
          <p:nvPr/>
        </p:nvPicPr>
        <p:blipFill>
          <a:blip r:embed="rId3"/>
          <a:stretch/>
        </p:blipFill>
        <p:spPr>
          <a:xfrm>
            <a:off x="4320000" y="4572000"/>
            <a:ext cx="3680640" cy="208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13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Image 0" descr="Epitech"/>
          <p:cNvPicPr/>
          <p:nvPr/>
        </p:nvPicPr>
        <p:blipFill>
          <a:blip r:embed="rId1"/>
          <a:srcRect l="-207" t="0" r="-207" b="0"/>
          <a:stretch/>
        </p:blipFill>
        <p:spPr>
          <a:xfrm>
            <a:off x="812880" y="406440"/>
            <a:ext cx="1396440" cy="335880"/>
          </a:xfrm>
          <a:prstGeom prst="rect">
            <a:avLst/>
          </a:prstGeom>
          <a:ln w="0">
            <a:noFill/>
          </a:ln>
        </p:spPr>
      </p:pic>
      <p:sp>
        <p:nvSpPr>
          <p:cNvPr id="502" name="Shape 0"/>
          <p:cNvSpPr/>
          <p:nvPr/>
        </p:nvSpPr>
        <p:spPr>
          <a:xfrm>
            <a:off x="9906120" y="952560"/>
            <a:ext cx="1269360" cy="63432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"/>
          <p:cNvSpPr/>
          <p:nvPr/>
        </p:nvSpPr>
        <p:spPr>
          <a:xfrm>
            <a:off x="9906120" y="1778040"/>
            <a:ext cx="608760" cy="60876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"/>
          <p:cNvSpPr/>
          <p:nvPr/>
        </p:nvSpPr>
        <p:spPr>
          <a:xfrm>
            <a:off x="10667880" y="1727280"/>
            <a:ext cx="710640" cy="710640"/>
          </a:xfrm>
          <a:prstGeom prst="rect">
            <a:avLst/>
          </a:prstGeom>
          <a:solidFill>
            <a:srgbClr val="0f9e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812880" y="1676880"/>
            <a:ext cx="10882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ff97"/>
                </a:solidFill>
                <a:latin typeface="Space Mono"/>
                <a:ea typeface="Space Mono"/>
              </a:rPr>
              <a:t>&lt; Contacts /&gt;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4"/>
          <p:cNvSpPr/>
          <p:nvPr/>
        </p:nvSpPr>
        <p:spPr>
          <a:xfrm>
            <a:off x="812880" y="2113560"/>
            <a:ext cx="8829000" cy="16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63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6f7fb"/>
                </a:solidFill>
                <a:latin typeface="Inter"/>
                <a:ea typeface="Inter"/>
              </a:rPr>
              <a:t>Stuck? Find us on Teams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5"/>
          <p:cNvSpPr/>
          <p:nvPr/>
        </p:nvSpPr>
        <p:spPr>
          <a:xfrm>
            <a:off x="819000" y="4025160"/>
            <a:ext cx="2708640" cy="1149120"/>
          </a:xfrm>
          <a:prstGeom prst="roundRect">
            <a:avLst>
              <a:gd name="adj" fmla="val 14912"/>
            </a:avLst>
          </a:prstGeom>
          <a:noFill/>
          <a:ln w="12700">
            <a:solidFill>
              <a:srgbClr val="f6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8" name="Image 1" descr="Chat"/>
          <p:cNvPicPr/>
          <p:nvPr/>
        </p:nvPicPr>
        <p:blipFill>
          <a:blip r:embed="rId2"/>
          <a:stretch/>
        </p:blipFill>
        <p:spPr>
          <a:xfrm>
            <a:off x="1051200" y="4257000"/>
            <a:ext cx="304200" cy="304200"/>
          </a:xfrm>
          <a:prstGeom prst="rect">
            <a:avLst/>
          </a:prstGeom>
          <a:ln w="0">
            <a:noFill/>
          </a:ln>
        </p:spPr>
      </p:pic>
      <p:sp>
        <p:nvSpPr>
          <p:cNvPr id="509" name="Text 6"/>
          <p:cNvSpPr/>
          <p:nvPr/>
        </p:nvSpPr>
        <p:spPr>
          <a:xfrm>
            <a:off x="1051200" y="4637880"/>
            <a:ext cx="23119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Jason CHEMIN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3744360" y="4025160"/>
            <a:ext cx="2708640" cy="1149120"/>
          </a:xfrm>
          <a:prstGeom prst="roundRect">
            <a:avLst>
              <a:gd name="adj" fmla="val 14912"/>
            </a:avLst>
          </a:prstGeom>
          <a:noFill/>
          <a:ln w="12700">
            <a:solidFill>
              <a:srgbClr val="f6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1" name="Image 2" descr="Chat"/>
          <p:cNvPicPr/>
          <p:nvPr/>
        </p:nvPicPr>
        <p:blipFill>
          <a:blip r:embed="rId3"/>
          <a:stretch/>
        </p:blipFill>
        <p:spPr>
          <a:xfrm>
            <a:off x="3976200" y="4257000"/>
            <a:ext cx="304200" cy="304200"/>
          </a:xfrm>
          <a:prstGeom prst="rect">
            <a:avLst/>
          </a:prstGeom>
          <a:ln w="0">
            <a:noFill/>
          </a:ln>
        </p:spPr>
      </p:pic>
      <p:sp>
        <p:nvSpPr>
          <p:cNvPr id="512" name="Text 8"/>
          <p:cNvSpPr/>
          <p:nvPr/>
        </p:nvSpPr>
        <p:spPr>
          <a:xfrm>
            <a:off x="3976200" y="4637880"/>
            <a:ext cx="23119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Colin CLEARY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6669720" y="4025160"/>
            <a:ext cx="2708640" cy="1149120"/>
          </a:xfrm>
          <a:prstGeom prst="roundRect">
            <a:avLst>
              <a:gd name="adj" fmla="val 14912"/>
            </a:avLst>
          </a:prstGeom>
          <a:noFill/>
          <a:ln w="12700">
            <a:solidFill>
              <a:srgbClr val="f6f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4" name="Image 3" descr="Chat"/>
          <p:cNvPicPr/>
          <p:nvPr/>
        </p:nvPicPr>
        <p:blipFill>
          <a:blip r:embed="rId4"/>
          <a:stretch/>
        </p:blipFill>
        <p:spPr>
          <a:xfrm>
            <a:off x="6901560" y="4257000"/>
            <a:ext cx="304200" cy="304200"/>
          </a:xfrm>
          <a:prstGeom prst="rect">
            <a:avLst/>
          </a:prstGeom>
          <a:ln w="0">
            <a:noFill/>
          </a:ln>
        </p:spPr>
      </p:pic>
      <p:sp>
        <p:nvSpPr>
          <p:cNvPr id="515" name="Text 10"/>
          <p:cNvSpPr/>
          <p:nvPr/>
        </p:nvSpPr>
        <p:spPr>
          <a:xfrm>
            <a:off x="6901560" y="4637880"/>
            <a:ext cx="23119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6f7fb"/>
                </a:solidFill>
                <a:latin typeface="Inter"/>
                <a:ea typeface="Inter"/>
              </a:rPr>
              <a:t>Antoine ESMAN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11"/>
          <p:cNvSpPr/>
          <p:nvPr/>
        </p:nvSpPr>
        <p:spPr>
          <a:xfrm>
            <a:off x="812880" y="5626080"/>
            <a:ext cx="8501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97"/>
                </a:solidFill>
                <a:latin typeface="Space Mono"/>
                <a:ea typeface="Space Mono"/>
              </a:rPr>
              <a:t>Docs: ARCHITECTURE.md · README.md §6 (Troubleshooting)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2"/>
          <p:cNvSpPr/>
          <p:nvPr/>
        </p:nvSpPr>
        <p:spPr>
          <a:xfrm>
            <a:off x="9779040" y="5587920"/>
            <a:ext cx="316800" cy="316800"/>
          </a:xfrm>
          <a:prstGeom prst="rect">
            <a:avLst/>
          </a:prstGeom>
          <a:solidFill>
            <a:srgbClr val="00ff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3"/>
          <p:cNvSpPr/>
          <p:nvPr/>
        </p:nvSpPr>
        <p:spPr>
          <a:xfrm>
            <a:off x="10172880" y="5587920"/>
            <a:ext cx="316800" cy="316800"/>
          </a:xfrm>
          <a:prstGeom prst="rect">
            <a:avLst/>
          </a:prstGeom>
          <a:solidFill>
            <a:srgbClr val="ff1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14"/>
          <p:cNvSpPr/>
          <p:nvPr/>
        </p:nvSpPr>
        <p:spPr>
          <a:xfrm>
            <a:off x="10566360" y="5587920"/>
            <a:ext cx="316800" cy="316800"/>
          </a:xfrm>
          <a:prstGeom prst="rect">
            <a:avLst/>
          </a:prstGeom>
          <a:solidFill>
            <a:srgbClr val="ff5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15"/>
          <p:cNvSpPr/>
          <p:nvPr/>
        </p:nvSpPr>
        <p:spPr>
          <a:xfrm>
            <a:off x="10960200" y="5587920"/>
            <a:ext cx="316800" cy="316800"/>
          </a:xfrm>
          <a:prstGeom prst="rect">
            <a:avLst/>
          </a:prstGeom>
          <a:solidFill>
            <a:srgbClr val="7eb9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2026-09-27T16:23:57Z</dcterms:created>
  <dc:creator>PptxGenJS</dc:creator>
  <dc:description/>
  <dc:language>en-US</dc:language>
  <cp:lastModifiedBy/>
  <dcterms:modified xsi:type="dcterms:W3CDTF">2026-09-28T12:00:06Z</dcterms:modified>
  <cp:revision>101</cp:revision>
  <dc:subject>PptxGenJS Presentation</dc:subject>
  <dc:title>Bootstrap: LiDAR and SLAM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On-screen Show (16:9)</vt:lpwstr>
  </property>
  <property fmtid="{D5CDD505-2E9C-101B-9397-08002B2CF9AE}" pid="4" name="Slides">
    <vt:i4>29</vt:i4>
  </property>
</Properties>
</file>